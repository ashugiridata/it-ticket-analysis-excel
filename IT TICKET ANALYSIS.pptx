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utosh Giri" userId="a7da8857590a0571" providerId="LiveId" clId="{1378D6FC-057C-4069-9FC9-4953B8C009A0}"/>
    <pc:docChg chg="custSel modSld sldOrd">
      <pc:chgData name="Ashutosh Giri" userId="a7da8857590a0571" providerId="LiveId" clId="{1378D6FC-057C-4069-9FC9-4953B8C009A0}" dt="2026-06-17T14:53:09.268" v="174" actId="14100"/>
      <pc:docMkLst>
        <pc:docMk/>
      </pc:docMkLst>
      <pc:sldChg chg="addSp delSp modSp mod">
        <pc:chgData name="Ashutosh Giri" userId="a7da8857590a0571" providerId="LiveId" clId="{1378D6FC-057C-4069-9FC9-4953B8C009A0}" dt="2026-06-02T15:13:29.351" v="93" actId="27918"/>
        <pc:sldMkLst>
          <pc:docMk/>
          <pc:sldMk cId="3964488224" sldId="260"/>
        </pc:sldMkLst>
        <pc:graphicFrameChg chg="add mod">
          <ac:chgData name="Ashutosh Giri" userId="a7da8857590a0571" providerId="LiveId" clId="{1378D6FC-057C-4069-9FC9-4953B8C009A0}" dt="2026-05-23T16:55:41.604" v="23"/>
          <ac:graphicFrameMkLst>
            <pc:docMk/>
            <pc:sldMk cId="3964488224" sldId="260"/>
            <ac:graphicFrameMk id="5" creationId="{FE013637-FB78-4131-ABF4-717CFDB7BA32}"/>
          </ac:graphicFrameMkLst>
        </pc:graphicFrameChg>
      </pc:sldChg>
      <pc:sldChg chg="addSp delSp modSp mod ord">
        <pc:chgData name="Ashutosh Giri" userId="a7da8857590a0571" providerId="LiveId" clId="{1378D6FC-057C-4069-9FC9-4953B8C009A0}" dt="2026-06-02T15:13:18.367" v="92" actId="27918"/>
        <pc:sldMkLst>
          <pc:docMk/>
          <pc:sldMk cId="3692867395" sldId="261"/>
        </pc:sldMkLst>
        <pc:spChg chg="mod">
          <ac:chgData name="Ashutosh Giri" userId="a7da8857590a0571" providerId="LiveId" clId="{1378D6FC-057C-4069-9FC9-4953B8C009A0}" dt="2026-06-02T14:58:16.805" v="38" actId="20577"/>
          <ac:spMkLst>
            <pc:docMk/>
            <pc:sldMk cId="3692867395" sldId="261"/>
            <ac:spMk id="2" creationId="{B277E8E0-4BEB-83BE-0FBA-14F7BE2EAD32}"/>
          </ac:spMkLst>
        </pc:spChg>
        <pc:spChg chg="mod">
          <ac:chgData name="Ashutosh Giri" userId="a7da8857590a0571" providerId="LiveId" clId="{1378D6FC-057C-4069-9FC9-4953B8C009A0}" dt="2026-06-02T15:04:52.100" v="52" actId="403"/>
          <ac:spMkLst>
            <pc:docMk/>
            <pc:sldMk cId="3692867395" sldId="261"/>
            <ac:spMk id="3" creationId="{3C821A65-B839-F524-624D-2FFF61BBB42F}"/>
          </ac:spMkLst>
        </pc:spChg>
        <pc:graphicFrameChg chg="add mod">
          <ac:chgData name="Ashutosh Giri" userId="a7da8857590a0571" providerId="LiveId" clId="{1378D6FC-057C-4069-9FC9-4953B8C009A0}" dt="2026-06-02T14:58:34.512" v="42" actId="20577"/>
          <ac:graphicFrameMkLst>
            <pc:docMk/>
            <pc:sldMk cId="3692867395" sldId="261"/>
            <ac:graphicFrameMk id="5" creationId="{9BD5BC76-BA33-4834-8E55-F8D688DCA75C}"/>
          </ac:graphicFrameMkLst>
        </pc:graphicFrameChg>
      </pc:sldChg>
      <pc:sldChg chg="addSp delSp modSp mod">
        <pc:chgData name="Ashutosh Giri" userId="a7da8857590a0571" providerId="LiveId" clId="{1378D6FC-057C-4069-9FC9-4953B8C009A0}" dt="2026-06-02T15:13:11.568" v="91" actId="27918"/>
        <pc:sldMkLst>
          <pc:docMk/>
          <pc:sldMk cId="3414059074" sldId="262"/>
        </pc:sldMkLst>
        <pc:spChg chg="mod">
          <ac:chgData name="Ashutosh Giri" userId="a7da8857590a0571" providerId="LiveId" clId="{1378D6FC-057C-4069-9FC9-4953B8C009A0}" dt="2026-06-02T15:09:26.183" v="68" actId="1076"/>
          <ac:spMkLst>
            <pc:docMk/>
            <pc:sldMk cId="3414059074" sldId="262"/>
            <ac:spMk id="2" creationId="{AF0B151C-2C63-A01C-55BA-43333F243875}"/>
          </ac:spMkLst>
        </pc:spChg>
        <pc:spChg chg="mod">
          <ac:chgData name="Ashutosh Giri" userId="a7da8857590a0571" providerId="LiveId" clId="{1378D6FC-057C-4069-9FC9-4953B8C009A0}" dt="2026-06-02T15:12:07.124" v="83" actId="404"/>
          <ac:spMkLst>
            <pc:docMk/>
            <pc:sldMk cId="3414059074" sldId="262"/>
            <ac:spMk id="3" creationId="{697F878B-29D7-C78C-CF67-03330A4940C6}"/>
          </ac:spMkLst>
        </pc:spChg>
        <pc:graphicFrameChg chg="add mod">
          <ac:chgData name="Ashutosh Giri" userId="a7da8857590a0571" providerId="LiveId" clId="{1378D6FC-057C-4069-9FC9-4953B8C009A0}" dt="2026-06-02T15:12:20.861" v="85" actId="14100"/>
          <ac:graphicFrameMkLst>
            <pc:docMk/>
            <pc:sldMk cId="3414059074" sldId="262"/>
            <ac:graphicFrameMk id="4" creationId="{520AD30F-8BB6-43A0-B917-80CA73DEA944}"/>
          </ac:graphicFrameMkLst>
        </pc:graphicFrameChg>
      </pc:sldChg>
      <pc:sldChg chg="mod">
        <pc:chgData name="Ashutosh Giri" userId="a7da8857590a0571" providerId="LiveId" clId="{1378D6FC-057C-4069-9FC9-4953B8C009A0}" dt="2026-06-02T15:13:04.109" v="90" actId="27918"/>
        <pc:sldMkLst>
          <pc:docMk/>
          <pc:sldMk cId="761857939" sldId="263"/>
        </pc:sldMkLst>
      </pc:sldChg>
      <pc:sldChg chg="mod">
        <pc:chgData name="Ashutosh Giri" userId="a7da8857590a0571" providerId="LiveId" clId="{1378D6FC-057C-4069-9FC9-4953B8C009A0}" dt="2026-06-02T15:12:56.056" v="89" actId="27918"/>
        <pc:sldMkLst>
          <pc:docMk/>
          <pc:sldMk cId="1781436170" sldId="265"/>
        </pc:sldMkLst>
      </pc:sldChg>
      <pc:sldChg chg="mod">
        <pc:chgData name="Ashutosh Giri" userId="a7da8857590a0571" providerId="LiveId" clId="{1378D6FC-057C-4069-9FC9-4953B8C009A0}" dt="2026-06-02T15:12:49.090" v="88" actId="27918"/>
        <pc:sldMkLst>
          <pc:docMk/>
          <pc:sldMk cId="2802026720" sldId="266"/>
        </pc:sldMkLst>
      </pc:sldChg>
      <pc:sldChg chg="mod">
        <pc:chgData name="Ashutosh Giri" userId="a7da8857590a0571" providerId="LiveId" clId="{1378D6FC-057C-4069-9FC9-4953B8C009A0}" dt="2026-06-02T15:13:47.585" v="95" actId="27918"/>
        <pc:sldMkLst>
          <pc:docMk/>
          <pc:sldMk cId="282976745" sldId="267"/>
        </pc:sldMkLst>
      </pc:sldChg>
      <pc:sldChg chg="addSp delSp modSp mod">
        <pc:chgData name="Ashutosh Giri" userId="a7da8857590a0571" providerId="LiveId" clId="{1378D6FC-057C-4069-9FC9-4953B8C009A0}" dt="2026-06-17T14:53:09.268" v="174" actId="14100"/>
        <pc:sldMkLst>
          <pc:docMk/>
          <pc:sldMk cId="2941556219" sldId="268"/>
        </pc:sldMkLst>
        <pc:spChg chg="mod">
          <ac:chgData name="Ashutosh Giri" userId="a7da8857590a0571" providerId="LiveId" clId="{1378D6FC-057C-4069-9FC9-4953B8C009A0}" dt="2026-06-02T15:17:42.840" v="99" actId="1076"/>
          <ac:spMkLst>
            <pc:docMk/>
            <pc:sldMk cId="2941556219" sldId="268"/>
            <ac:spMk id="2" creationId="{069363E7-466A-072B-1779-E749AABC4114}"/>
          </ac:spMkLst>
        </pc:spChg>
        <pc:spChg chg="add del mod">
          <ac:chgData name="Ashutosh Giri" userId="a7da8857590a0571" providerId="LiveId" clId="{1378D6FC-057C-4069-9FC9-4953B8C009A0}" dt="2026-06-17T14:52:42.811" v="169" actId="22"/>
          <ac:spMkLst>
            <pc:docMk/>
            <pc:sldMk cId="2941556219" sldId="268"/>
            <ac:spMk id="4" creationId="{3680CE2A-82A2-C0BA-305A-E51092635478}"/>
          </ac:spMkLst>
        </pc:spChg>
        <pc:picChg chg="add del mod ord">
          <ac:chgData name="Ashutosh Giri" userId="a7da8857590a0571" providerId="LiveId" clId="{1378D6FC-057C-4069-9FC9-4953B8C009A0}" dt="2026-06-17T14:50:15.232" v="168" actId="478"/>
          <ac:picMkLst>
            <pc:docMk/>
            <pc:sldMk cId="2941556219" sldId="268"/>
            <ac:picMk id="6" creationId="{6F58AF75-B677-8B5D-C35F-22AF9B688900}"/>
          </ac:picMkLst>
        </pc:picChg>
        <pc:picChg chg="add mod ord">
          <ac:chgData name="Ashutosh Giri" userId="a7da8857590a0571" providerId="LiveId" clId="{1378D6FC-057C-4069-9FC9-4953B8C009A0}" dt="2026-06-17T14:53:09.268" v="174" actId="14100"/>
          <ac:picMkLst>
            <pc:docMk/>
            <pc:sldMk cId="2941556219" sldId="268"/>
            <ac:picMk id="7" creationId="{F07D7320-287E-A70D-88FA-5C32AAF7F83A}"/>
          </ac:picMkLst>
        </pc:picChg>
      </pc:sldChg>
      <pc:sldChg chg="modSp mod">
        <pc:chgData name="Ashutosh Giri" userId="a7da8857590a0571" providerId="LiveId" clId="{1378D6FC-057C-4069-9FC9-4953B8C009A0}" dt="2026-06-02T15:27:10.265" v="121" actId="20577"/>
        <pc:sldMkLst>
          <pc:docMk/>
          <pc:sldMk cId="186978973" sldId="269"/>
        </pc:sldMkLst>
        <pc:spChg chg="mod">
          <ac:chgData name="Ashutosh Giri" userId="a7da8857590a0571" providerId="LiveId" clId="{1378D6FC-057C-4069-9FC9-4953B8C009A0}" dt="2026-06-02T15:27:10.265" v="121" actId="20577"/>
          <ac:spMkLst>
            <pc:docMk/>
            <pc:sldMk cId="186978973" sldId="269"/>
            <ac:spMk id="3" creationId="{E68F4EAA-443D-64D6-A60C-F6F69C34F792}"/>
          </ac:spMkLst>
        </pc:spChg>
      </pc:sldChg>
      <pc:sldChg chg="modSp mod">
        <pc:chgData name="Ashutosh Giri" userId="a7da8857590a0571" providerId="LiveId" clId="{1378D6FC-057C-4069-9FC9-4953B8C009A0}" dt="2026-06-02T15:32:27.860" v="155" actId="1076"/>
        <pc:sldMkLst>
          <pc:docMk/>
          <pc:sldMk cId="3396941176" sldId="270"/>
        </pc:sldMkLst>
        <pc:spChg chg="mod">
          <ac:chgData name="Ashutosh Giri" userId="a7da8857590a0571" providerId="LiveId" clId="{1378D6FC-057C-4069-9FC9-4953B8C009A0}" dt="2026-06-02T15:32:27.860" v="155" actId="1076"/>
          <ac:spMkLst>
            <pc:docMk/>
            <pc:sldMk cId="3396941176" sldId="270"/>
            <ac:spMk id="3" creationId="{D786219C-1CF1-BC4C-3676-5DBB36DD2E66}"/>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a7da8857590a0571/Desktop/Template%20(IT%20Ticket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a7da8857590a0571/Desktop/REVISED%20IT%20TICKET%20NALYSIS%20PROJECT/Template%20(IT%20Ticket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a7da8857590a0571/Desktop/REVISED%20IT%20TICKET%20NALYSIS%20PROJECT/Template%20(IT%20Ticket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a7da8857590a0571/Desktop/Template%20(IT%20Ticket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a7da8857590a0571/Desktop/Template%20(IT%20Ticket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a7da8857590a0571/Desktop/Template%20(IT%20Ticket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a7da8857590a0571/Desktop/Template%20(IT%20Ticket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a7da8857590a0571/Desktop/Template%20(IT%20Tickets).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[Template (IT Tickets).xlsx]Q-10 I Objective!PivotTable7</c:name>
    <c:fmtId val="55"/>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Monthly Ticket Volume Trend</a:t>
            </a:r>
            <a:endParaRPr lang="en-US"/>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'Q-10 I Objective'!$C$7</c:f>
              <c:strCache>
                <c:ptCount val="1"/>
                <c:pt idx="0">
                  <c:v>Total</c:v>
                </c:pt>
              </c:strCache>
            </c:strRef>
          </c:tx>
          <c:spPr>
            <a:ln w="34925" cap="rnd">
              <a:solidFill>
                <a:schemeClr val="accent2"/>
              </a:solidFill>
              <a:round/>
            </a:ln>
            <a:effectLst>
              <a:outerShdw blurRad="50800" dist="38100" dir="5400000" rotWithShape="0">
                <a:srgbClr val="000000">
                  <a:alpha val="46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'Q-10 I Objective'!$B$8:$B$13</c:f>
              <c:strCache>
                <c:ptCount val="5"/>
                <c:pt idx="0">
                  <c:v>2016</c:v>
                </c:pt>
                <c:pt idx="1">
                  <c:v>2017</c:v>
                </c:pt>
                <c:pt idx="2">
                  <c:v>2018</c:v>
                </c:pt>
                <c:pt idx="3">
                  <c:v>2019</c:v>
                </c:pt>
                <c:pt idx="4">
                  <c:v>2020</c:v>
                </c:pt>
              </c:strCache>
            </c:strRef>
          </c:cat>
          <c:val>
            <c:numRef>
              <c:f>'Q-10 I Objective'!$C$8:$C$13</c:f>
              <c:numCache>
                <c:formatCode>General</c:formatCode>
                <c:ptCount val="5"/>
                <c:pt idx="0">
                  <c:v>13051</c:v>
                </c:pt>
                <c:pt idx="1">
                  <c:v>14915</c:v>
                </c:pt>
                <c:pt idx="2">
                  <c:v>18954</c:v>
                </c:pt>
                <c:pt idx="3">
                  <c:v>21490</c:v>
                </c:pt>
                <c:pt idx="4">
                  <c:v>29088</c:v>
                </c:pt>
              </c:numCache>
            </c:numRef>
          </c:val>
          <c:smooth val="0"/>
          <c:extLst>
            <c:ext xmlns:c16="http://schemas.microsoft.com/office/drawing/2014/chart" uri="{C3380CC4-5D6E-409C-BE32-E72D297353CC}">
              <c16:uniqueId val="{00000000-F380-47D8-91E7-9AE83BE3CAA4}"/>
            </c:ext>
          </c:extLst>
        </c:ser>
        <c:dLbls>
          <c:dLblPos val="t"/>
          <c:showLegendKey val="0"/>
          <c:showVal val="1"/>
          <c:showCatName val="0"/>
          <c:showSerName val="0"/>
          <c:showPercent val="0"/>
          <c:showBubbleSize val="0"/>
        </c:dLbls>
        <c:smooth val="0"/>
        <c:axId val="1892863584"/>
        <c:axId val="1892858784"/>
      </c:lineChart>
      <c:catAx>
        <c:axId val="1892863584"/>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892858784"/>
        <c:crosses val="autoZero"/>
        <c:auto val="1"/>
        <c:lblAlgn val="ctr"/>
        <c:lblOffset val="100"/>
        <c:noMultiLvlLbl val="0"/>
      </c:catAx>
      <c:valAx>
        <c:axId val="189285878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8928635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[Template (IT Tickets).xlsx]Dashboard!PivotTable8</c:name>
    <c:fmtId val="10"/>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dirty="0"/>
              <a:t>Average Resolution Time by Request Category (Quarter-wise) </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pivotFmts>
      <c:pivotFmt>
        <c:idx val="0"/>
        <c:spPr>
          <a:solidFill>
            <a:schemeClr val="accent1"/>
          </a:soli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lumMod val="60000"/>
              <a:lumOff val="40000"/>
            </a:schemeClr>
          </a:soli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lumMod val="75000"/>
            </a:schemeClr>
          </a:soli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rgbClr val="00B0F0"/>
          </a:soli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lumMod val="75000"/>
            </a:schemeClr>
          </a:solidFill>
          <a:ln>
            <a:noFill/>
          </a:ln>
          <a:effectLst/>
          <a:scene3d>
            <a:camera prst="orthographicFront">
              <a:rot lat="0" lon="0" rev="0"/>
            </a:camera>
            <a:lightRig rig="threePt" dir="t"/>
          </a:scene3d>
          <a:sp3d prstMaterial="plastic">
            <a:bevelT w="25400" h="25400"/>
          </a:sp3d>
        </c:spPr>
      </c:pivotFmt>
      <c:pivotFmt>
        <c:idx val="13"/>
        <c:spPr>
          <a:solidFill>
            <a:srgbClr val="00B0F0"/>
          </a:solidFill>
          <a:ln>
            <a:noFill/>
          </a:ln>
          <a:effectLst/>
          <a:scene3d>
            <a:camera prst="orthographicFront">
              <a:rot lat="0" lon="0" rev="0"/>
            </a:camera>
            <a:lightRig rig="threePt" dir="t"/>
          </a:scene3d>
          <a:sp3d prstMaterial="plastic">
            <a:bevelT w="25400" h="25400"/>
          </a:sp3d>
        </c:spPr>
      </c:pivotFmt>
      <c:pivotFmt>
        <c:idx val="14"/>
        <c:spPr>
          <a:solidFill>
            <a:schemeClr val="accent1"/>
          </a:soli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lumMod val="60000"/>
              <a:lumOff val="40000"/>
            </a:schemeClr>
          </a:soli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lumMod val="75000"/>
            </a:schemeClr>
          </a:soli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rgbClr val="00B0F0"/>
          </a:soli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lumMod val="60000"/>
              <a:lumOff val="40000"/>
            </a:schemeClr>
          </a:soli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1">
              <a:lumMod val="75000"/>
            </a:schemeClr>
          </a:soli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1"/>
        <c:spPr>
          <a:solidFill>
            <a:srgbClr val="00B0F0"/>
          </a:soli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Dashboard!$R$107:$R$108</c:f>
              <c:strCache>
                <c:ptCount val="1"/>
                <c:pt idx="0">
                  <c:v>Qtr1</c:v>
                </c:pt>
              </c:strCache>
            </c:strRef>
          </c:tx>
          <c:spPr>
            <a:gradFill rotWithShape="1">
              <a:gsLst>
                <a:gs pos="0">
                  <a:schemeClr val="accent1">
                    <a:tint val="98000"/>
                    <a:hueMod val="94000"/>
                    <a:satMod val="130000"/>
                    <a:lumMod val="128000"/>
                  </a:schemeClr>
                </a:gs>
                <a:gs pos="100000">
                  <a:schemeClr val="accent1">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Dashboard!$Q$109:$Q$112</c:f>
              <c:strCache>
                <c:ptCount val="4"/>
                <c:pt idx="0">
                  <c:v>Hardware</c:v>
                </c:pt>
                <c:pt idx="1">
                  <c:v>Login Access</c:v>
                </c:pt>
                <c:pt idx="2">
                  <c:v>Software</c:v>
                </c:pt>
                <c:pt idx="3">
                  <c:v>System</c:v>
                </c:pt>
              </c:strCache>
            </c:strRef>
          </c:cat>
          <c:val>
            <c:numRef>
              <c:f>Dashboard!$R$109:$R$112</c:f>
              <c:numCache>
                <c:formatCode>General</c:formatCode>
                <c:ptCount val="4"/>
                <c:pt idx="0">
                  <c:v>7.7437185929648242</c:v>
                </c:pt>
                <c:pt idx="1">
                  <c:v>0.30982295830953743</c:v>
                </c:pt>
                <c:pt idx="2">
                  <c:v>5.2396186440677965</c:v>
                </c:pt>
                <c:pt idx="3">
                  <c:v>6.6398099146776106</c:v>
                </c:pt>
              </c:numCache>
            </c:numRef>
          </c:val>
          <c:extLst>
            <c:ext xmlns:c16="http://schemas.microsoft.com/office/drawing/2014/chart" uri="{C3380CC4-5D6E-409C-BE32-E72D297353CC}">
              <c16:uniqueId val="{00000000-3330-4EE8-B467-8A38EC539946}"/>
            </c:ext>
          </c:extLst>
        </c:ser>
        <c:ser>
          <c:idx val="1"/>
          <c:order val="1"/>
          <c:tx>
            <c:strRef>
              <c:f>Dashboard!$S$107:$S$108</c:f>
              <c:strCache>
                <c:ptCount val="1"/>
                <c:pt idx="0">
                  <c:v>Qtr2</c:v>
                </c:pt>
              </c:strCache>
            </c:strRef>
          </c:tx>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Dashboard!$Q$109:$Q$112</c:f>
              <c:strCache>
                <c:ptCount val="4"/>
                <c:pt idx="0">
                  <c:v>Hardware</c:v>
                </c:pt>
                <c:pt idx="1">
                  <c:v>Login Access</c:v>
                </c:pt>
                <c:pt idx="2">
                  <c:v>Software</c:v>
                </c:pt>
                <c:pt idx="3">
                  <c:v>System</c:v>
                </c:pt>
              </c:strCache>
            </c:strRef>
          </c:cat>
          <c:val>
            <c:numRef>
              <c:f>Dashboard!$S$109:$S$112</c:f>
              <c:numCache>
                <c:formatCode>General</c:formatCode>
                <c:ptCount val="4"/>
                <c:pt idx="0">
                  <c:v>7.6847290640394093</c:v>
                </c:pt>
                <c:pt idx="1">
                  <c:v>0.32385814819925485</c:v>
                </c:pt>
                <c:pt idx="2">
                  <c:v>5.2590348861499896</c:v>
                </c:pt>
                <c:pt idx="3">
                  <c:v>6.642100935347929</c:v>
                </c:pt>
              </c:numCache>
            </c:numRef>
          </c:val>
          <c:extLst>
            <c:ext xmlns:c16="http://schemas.microsoft.com/office/drawing/2014/chart" uri="{C3380CC4-5D6E-409C-BE32-E72D297353CC}">
              <c16:uniqueId val="{00000001-3330-4EE8-B467-8A38EC539946}"/>
            </c:ext>
          </c:extLst>
        </c:ser>
        <c:ser>
          <c:idx val="2"/>
          <c:order val="2"/>
          <c:tx>
            <c:strRef>
              <c:f>Dashboard!$T$107:$T$108</c:f>
              <c:strCache>
                <c:ptCount val="1"/>
                <c:pt idx="0">
                  <c:v>Qtr3</c:v>
                </c:pt>
              </c:strCache>
            </c:strRef>
          </c:tx>
          <c:spPr>
            <a:gradFill rotWithShape="1">
              <a:gsLst>
                <a:gs pos="0">
                  <a:schemeClr val="accent3">
                    <a:tint val="98000"/>
                    <a:hueMod val="94000"/>
                    <a:satMod val="130000"/>
                    <a:lumMod val="128000"/>
                  </a:schemeClr>
                </a:gs>
                <a:gs pos="100000">
                  <a:schemeClr val="accent3">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Dashboard!$Q$109:$Q$112</c:f>
              <c:strCache>
                <c:ptCount val="4"/>
                <c:pt idx="0">
                  <c:v>Hardware</c:v>
                </c:pt>
                <c:pt idx="1">
                  <c:v>Login Access</c:v>
                </c:pt>
                <c:pt idx="2">
                  <c:v>Software</c:v>
                </c:pt>
                <c:pt idx="3">
                  <c:v>System</c:v>
                </c:pt>
              </c:strCache>
            </c:strRef>
          </c:cat>
          <c:val>
            <c:numRef>
              <c:f>Dashboard!$T$109:$T$112</c:f>
              <c:numCache>
                <c:formatCode>General</c:formatCode>
                <c:ptCount val="4"/>
                <c:pt idx="0">
                  <c:v>7.5285714285714285</c:v>
                </c:pt>
                <c:pt idx="1">
                  <c:v>0.31265239772419401</c:v>
                </c:pt>
                <c:pt idx="2">
                  <c:v>5.1592673700975515</c:v>
                </c:pt>
                <c:pt idx="3">
                  <c:v>6.5821828076186639</c:v>
                </c:pt>
              </c:numCache>
            </c:numRef>
          </c:val>
          <c:extLst>
            <c:ext xmlns:c16="http://schemas.microsoft.com/office/drawing/2014/chart" uri="{C3380CC4-5D6E-409C-BE32-E72D297353CC}">
              <c16:uniqueId val="{00000002-3330-4EE8-B467-8A38EC539946}"/>
            </c:ext>
          </c:extLst>
        </c:ser>
        <c:ser>
          <c:idx val="3"/>
          <c:order val="3"/>
          <c:tx>
            <c:strRef>
              <c:f>Dashboard!$U$107:$U$108</c:f>
              <c:strCache>
                <c:ptCount val="1"/>
                <c:pt idx="0">
                  <c:v>Qtr4</c:v>
                </c:pt>
              </c:strCache>
            </c:strRef>
          </c:tx>
          <c:spPr>
            <a:gradFill rotWithShape="1">
              <a:gsLst>
                <a:gs pos="0">
                  <a:schemeClr val="accent4">
                    <a:tint val="98000"/>
                    <a:hueMod val="94000"/>
                    <a:satMod val="130000"/>
                    <a:lumMod val="128000"/>
                  </a:schemeClr>
                </a:gs>
                <a:gs pos="100000">
                  <a:schemeClr val="accent4">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Dashboard!$Q$109:$Q$112</c:f>
              <c:strCache>
                <c:ptCount val="4"/>
                <c:pt idx="0">
                  <c:v>Hardware</c:v>
                </c:pt>
                <c:pt idx="1">
                  <c:v>Login Access</c:v>
                </c:pt>
                <c:pt idx="2">
                  <c:v>Software</c:v>
                </c:pt>
                <c:pt idx="3">
                  <c:v>System</c:v>
                </c:pt>
              </c:strCache>
            </c:strRef>
          </c:cat>
          <c:val>
            <c:numRef>
              <c:f>Dashboard!$U$109:$U$112</c:f>
              <c:numCache>
                <c:formatCode>General</c:formatCode>
                <c:ptCount val="4"/>
                <c:pt idx="0">
                  <c:v>7.5481903212688088</c:v>
                </c:pt>
                <c:pt idx="1">
                  <c:v>0.30899470899470899</c:v>
                </c:pt>
                <c:pt idx="2">
                  <c:v>5.2978174603174599</c:v>
                </c:pt>
                <c:pt idx="3">
                  <c:v>6.600733326726786</c:v>
                </c:pt>
              </c:numCache>
            </c:numRef>
          </c:val>
          <c:extLst>
            <c:ext xmlns:c16="http://schemas.microsoft.com/office/drawing/2014/chart" uri="{C3380CC4-5D6E-409C-BE32-E72D297353CC}">
              <c16:uniqueId val="{00000003-3330-4EE8-B467-8A38EC539946}"/>
            </c:ext>
          </c:extLst>
        </c:ser>
        <c:dLbls>
          <c:dLblPos val="outEnd"/>
          <c:showLegendKey val="0"/>
          <c:showVal val="1"/>
          <c:showCatName val="0"/>
          <c:showSerName val="0"/>
          <c:showPercent val="0"/>
          <c:showBubbleSize val="0"/>
        </c:dLbls>
        <c:gapWidth val="100"/>
        <c:overlap val="-24"/>
        <c:axId val="815429807"/>
        <c:axId val="1905117807"/>
      </c:barChart>
      <c:catAx>
        <c:axId val="815429807"/>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905117807"/>
        <c:crosses val="autoZero"/>
        <c:auto val="1"/>
        <c:lblAlgn val="ctr"/>
        <c:lblOffset val="100"/>
        <c:noMultiLvlLbl val="0"/>
      </c:catAx>
      <c:valAx>
        <c:axId val="190511780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81542980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[Template (IT Tickets).xlsx]Dashboard!PivotTable9</c:name>
    <c:fmtId val="10"/>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dirty="0"/>
              <a:t>Age Group by Satisfaction Rate</a:t>
            </a:r>
            <a:endParaRPr lang="en-US" dirty="0"/>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scene3d>
            <a:camera prst="orthographicFront">
              <a:rot lat="0" lon="0" rev="0"/>
            </a:camera>
            <a:lightRig rig="threePt" dir="t"/>
          </a:scene3d>
          <a:sp3d prstMaterial="plastic">
            <a:bevelT w="25400" h="25400"/>
          </a:sp3d>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Dashboard!$B$136</c:f>
              <c:strCache>
                <c:ptCount val="1"/>
                <c:pt idx="0">
                  <c:v>Total</c:v>
                </c:pt>
              </c:strCache>
            </c:strRef>
          </c:tx>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Dashboard!$A$137:$A$140</c:f>
              <c:strCache>
                <c:ptCount val="3"/>
                <c:pt idx="0">
                  <c:v>Mid(31-40)</c:v>
                </c:pt>
                <c:pt idx="1">
                  <c:v>Senior(41-50)</c:v>
                </c:pt>
                <c:pt idx="2">
                  <c:v>Young(20-30)</c:v>
                </c:pt>
              </c:strCache>
            </c:strRef>
          </c:cat>
          <c:val>
            <c:numRef>
              <c:f>Dashboard!$B$137:$B$140</c:f>
              <c:numCache>
                <c:formatCode>General</c:formatCode>
                <c:ptCount val="3"/>
                <c:pt idx="0">
                  <c:v>4.0293330994869994</c:v>
                </c:pt>
                <c:pt idx="1">
                  <c:v>4.2189395304149402</c:v>
                </c:pt>
                <c:pt idx="2">
                  <c:v>4.1370667877721328</c:v>
                </c:pt>
              </c:numCache>
            </c:numRef>
          </c:val>
          <c:extLst>
            <c:ext xmlns:c16="http://schemas.microsoft.com/office/drawing/2014/chart" uri="{C3380CC4-5D6E-409C-BE32-E72D297353CC}">
              <c16:uniqueId val="{00000000-DC8B-409F-AA12-E790470EE249}"/>
            </c:ext>
          </c:extLst>
        </c:ser>
        <c:dLbls>
          <c:dLblPos val="outEnd"/>
          <c:showLegendKey val="0"/>
          <c:showVal val="1"/>
          <c:showCatName val="0"/>
          <c:showSerName val="0"/>
          <c:showPercent val="0"/>
          <c:showBubbleSize val="0"/>
        </c:dLbls>
        <c:gapWidth val="100"/>
        <c:overlap val="-24"/>
        <c:axId val="2000002175"/>
        <c:axId val="1999986815"/>
      </c:barChart>
      <c:catAx>
        <c:axId val="2000002175"/>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999986815"/>
        <c:crosses val="autoZero"/>
        <c:auto val="1"/>
        <c:lblAlgn val="ctr"/>
        <c:lblOffset val="100"/>
        <c:noMultiLvlLbl val="0"/>
      </c:catAx>
      <c:valAx>
        <c:axId val="199998681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000021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[Template (IT Tickets).xlsx]Dashboard!PivotTable3</c:name>
    <c:fmtId val="32"/>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Tickets Based on Satisfaction Rate</a:t>
            </a:r>
          </a:p>
          <a:p>
            <a:pPr>
              <a:defRPr/>
            </a:pPr>
            <a:endParaRPr lang="en-US"/>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circle"/>
          <c:size val="6"/>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Dashboard!$N$83</c:f>
              <c:strCache>
                <c:ptCount val="1"/>
                <c:pt idx="0">
                  <c:v>Total</c:v>
                </c:pt>
              </c:strCache>
            </c:strRef>
          </c:tx>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Dashboard!$M$84:$M$89</c:f>
              <c:strCache>
                <c:ptCount val="5"/>
                <c:pt idx="0">
                  <c:v>1</c:v>
                </c:pt>
                <c:pt idx="1">
                  <c:v>2</c:v>
                </c:pt>
                <c:pt idx="2">
                  <c:v>3</c:v>
                </c:pt>
                <c:pt idx="3">
                  <c:v>4</c:v>
                </c:pt>
                <c:pt idx="4">
                  <c:v>5</c:v>
                </c:pt>
              </c:strCache>
            </c:strRef>
          </c:cat>
          <c:val>
            <c:numRef>
              <c:f>Dashboard!$N$84:$N$89</c:f>
              <c:numCache>
                <c:formatCode>General</c:formatCode>
                <c:ptCount val="5"/>
                <c:pt idx="0">
                  <c:v>9907</c:v>
                </c:pt>
                <c:pt idx="1">
                  <c:v>1977</c:v>
                </c:pt>
                <c:pt idx="2">
                  <c:v>7282</c:v>
                </c:pt>
                <c:pt idx="3">
                  <c:v>27562</c:v>
                </c:pt>
                <c:pt idx="4">
                  <c:v>50770</c:v>
                </c:pt>
              </c:numCache>
            </c:numRef>
          </c:val>
          <c:extLst>
            <c:ext xmlns:c16="http://schemas.microsoft.com/office/drawing/2014/chart" uri="{C3380CC4-5D6E-409C-BE32-E72D297353CC}">
              <c16:uniqueId val="{00000000-00F3-457C-ABF5-066B7537CBE0}"/>
            </c:ext>
          </c:extLst>
        </c:ser>
        <c:dLbls>
          <c:dLblPos val="inEnd"/>
          <c:showLegendKey val="0"/>
          <c:showVal val="1"/>
          <c:showCatName val="0"/>
          <c:showSerName val="0"/>
          <c:showPercent val="0"/>
          <c:showBubbleSize val="0"/>
        </c:dLbls>
        <c:gapWidth val="100"/>
        <c:overlap val="-24"/>
        <c:axId val="559722320"/>
        <c:axId val="559717040"/>
      </c:barChart>
      <c:catAx>
        <c:axId val="55972232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559717040"/>
        <c:crosses val="autoZero"/>
        <c:auto val="1"/>
        <c:lblAlgn val="ctr"/>
        <c:lblOffset val="100"/>
        <c:noMultiLvlLbl val="0"/>
      </c:catAx>
      <c:valAx>
        <c:axId val="55971704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5597223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[Template (IT Tickets).xlsx]Dashboard!PivotTable4</c:name>
    <c:fmtId val="15"/>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Tickets by Category</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solidFill>
            <a:schemeClr val="accent1"/>
          </a:solidFill>
          <a:ln w="19050">
            <a:solidFill>
              <a:schemeClr val="lt1"/>
            </a:solidFill>
          </a:ln>
          <a:effectLst/>
          <a:scene3d>
            <a:camera prst="orthographicFront">
              <a:rot lat="0" lon="0" rev="0"/>
            </a:camera>
            <a:lightRig rig="threePt" dir="t"/>
          </a:scene3d>
          <a:sp3d contourW="25400">
            <a:contourClr>
              <a:schemeClr val="lt1"/>
            </a:contourClr>
          </a:sp3d>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a:scene3d>
            <a:camera prst="orthographicFront">
              <a:rot lat="0" lon="0" rev="0"/>
            </a:camera>
            <a:lightRig rig="threePt" dir="t"/>
          </a:scene3d>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a:scene3d>
            <a:camera prst="orthographicFront">
              <a:rot lat="0" lon="0" rev="0"/>
            </a:camera>
            <a:lightRig rig="threePt" dir="t"/>
          </a:scene3d>
          <a:sp3d contourW="25400">
            <a:contourClr>
              <a:schemeClr val="lt1"/>
            </a:contourClr>
          </a:sp3d>
        </c:spPr>
      </c:pivotFmt>
      <c:pivotFmt>
        <c:idx val="3"/>
        <c:spPr>
          <a:solidFill>
            <a:schemeClr val="accent1"/>
          </a:solidFill>
          <a:ln w="19050">
            <a:solidFill>
              <a:schemeClr val="lt1"/>
            </a:solidFill>
          </a:ln>
          <a:effectLst/>
          <a:scene3d>
            <a:camera prst="orthographicFront">
              <a:rot lat="0" lon="0" rev="0"/>
            </a:camera>
            <a:lightRig rig="threePt" dir="t"/>
          </a:scene3d>
          <a:sp3d contourW="25400">
            <a:contourClr>
              <a:schemeClr val="lt1"/>
            </a:contourClr>
          </a:sp3d>
        </c:spPr>
      </c:pivotFmt>
      <c:pivotFmt>
        <c:idx val="4"/>
        <c:spPr>
          <a:solidFill>
            <a:schemeClr val="accent1"/>
          </a:solidFill>
          <a:ln w="19050">
            <a:solidFill>
              <a:schemeClr val="lt1"/>
            </a:solidFill>
          </a:ln>
          <a:effectLst/>
          <a:scene3d>
            <a:camera prst="orthographicFront">
              <a:rot lat="0" lon="0" rev="0"/>
            </a:camera>
            <a:lightRig rig="threePt" dir="t"/>
          </a:scene3d>
          <a:sp3d contourW="25400">
            <a:contourClr>
              <a:schemeClr val="lt1"/>
            </a:contourClr>
          </a:sp3d>
        </c:spPr>
      </c:pivotFmt>
      <c:pivotFmt>
        <c:idx val="5"/>
        <c:spPr>
          <a:solidFill>
            <a:schemeClr val="accent1"/>
          </a:solidFill>
          <a:ln w="19050">
            <a:solidFill>
              <a:schemeClr val="lt1"/>
            </a:solidFill>
          </a:ln>
          <a:effectLst/>
          <a:scene3d>
            <a:camera prst="orthographicFront">
              <a:rot lat="0" lon="0" rev="0"/>
            </a:camera>
            <a:lightRig rig="threePt" dir="t"/>
          </a:scene3d>
          <a:sp3d contourW="25400">
            <a:contourClr>
              <a:schemeClr val="lt1"/>
            </a:contourClr>
          </a:sp3d>
        </c:spPr>
      </c:pivotFmt>
      <c:pivotFmt>
        <c:idx val="6"/>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pivotFmt>
      <c:pivotFmt>
        <c:idx val="8"/>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pivotFmt>
      <c:pivotFmt>
        <c:idx val="9"/>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pivotFmt>
      <c:pivotFmt>
        <c:idx val="10"/>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pivotFmt>
      <c:pivotFmt>
        <c:idx val="11"/>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pivotFmt>
      <c:pivotFmt>
        <c:idx val="13"/>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pivotFmt>
      <c:pivotFmt>
        <c:idx val="14"/>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pivotFmt>
      <c:pivotFmt>
        <c:idx val="15"/>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pivotFmt>
      <c:pivotFmt>
        <c:idx val="16"/>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pivotFmt>
      <c:pivotFmt>
        <c:idx val="18"/>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pivotFmt>
      <c:pivotFmt>
        <c:idx val="19"/>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pivotFmt>
      <c:pivotFmt>
        <c:idx val="20"/>
        <c:spPr>
          <a:solidFill>
            <a:schemeClr val="accent1"/>
          </a:solidFill>
          <a:ln w="25400">
            <a:solidFill>
              <a:schemeClr val="lt1"/>
            </a:solidFill>
          </a:ln>
          <a:effectLst/>
          <a:scene3d>
            <a:camera prst="orthographicFront">
              <a:rot lat="0" lon="0" rev="0"/>
            </a:camera>
            <a:lightRig rig="threePt" dir="t"/>
          </a:scene3d>
          <a:sp3d contourW="25400">
            <a:contourClr>
              <a:schemeClr val="lt1"/>
            </a:contourClr>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Dashboard!$D$109</c:f>
              <c:strCache>
                <c:ptCount val="1"/>
                <c:pt idx="0">
                  <c:v>Total</c:v>
                </c:pt>
              </c:strCache>
            </c:strRef>
          </c:tx>
          <c:dPt>
            <c:idx val="0"/>
            <c:bubble3D val="0"/>
            <c:spPr>
              <a:gradFill rotWithShape="1">
                <a:gsLst>
                  <a:gs pos="0">
                    <a:schemeClr val="accent1">
                      <a:tint val="98000"/>
                      <a:hueMod val="94000"/>
                      <a:satMod val="130000"/>
                      <a:lumMod val="128000"/>
                    </a:schemeClr>
                  </a:gs>
                  <a:gs pos="100000">
                    <a:schemeClr val="accent1">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01-F828-4789-B3DC-05E4700C0301}"/>
              </c:ext>
            </c:extLst>
          </c:dPt>
          <c:dPt>
            <c:idx val="1"/>
            <c:bubble3D val="0"/>
            <c:explosion val="3"/>
            <c:spPr>
              <a:gradFill rotWithShape="1">
                <a:gsLst>
                  <a:gs pos="0">
                    <a:schemeClr val="accent3">
                      <a:tint val="98000"/>
                      <a:hueMod val="94000"/>
                      <a:satMod val="130000"/>
                      <a:lumMod val="128000"/>
                    </a:schemeClr>
                  </a:gs>
                  <a:gs pos="100000">
                    <a:schemeClr val="accent3">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03-F828-4789-B3DC-05E4700C0301}"/>
              </c:ext>
            </c:extLst>
          </c:dPt>
          <c:dPt>
            <c:idx val="2"/>
            <c:bubble3D val="0"/>
            <c:spPr>
              <a:gradFill rotWithShape="1">
                <a:gsLst>
                  <a:gs pos="0">
                    <a:schemeClr val="accent5">
                      <a:tint val="98000"/>
                      <a:hueMod val="94000"/>
                      <a:satMod val="130000"/>
                      <a:lumMod val="128000"/>
                    </a:schemeClr>
                  </a:gs>
                  <a:gs pos="100000">
                    <a:schemeClr val="accent5">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05-F828-4789-B3DC-05E4700C0301}"/>
              </c:ext>
            </c:extLst>
          </c:dPt>
          <c:dPt>
            <c:idx val="3"/>
            <c:bubble3D val="0"/>
            <c:spPr>
              <a:gradFill rotWithShape="1">
                <a:gsLst>
                  <a:gs pos="0">
                    <a:schemeClr val="accent1">
                      <a:lumMod val="60000"/>
                      <a:tint val="98000"/>
                      <a:hueMod val="94000"/>
                      <a:satMod val="130000"/>
                      <a:lumMod val="128000"/>
                    </a:schemeClr>
                  </a:gs>
                  <a:gs pos="100000">
                    <a:schemeClr val="accent1">
                      <a:lumMod val="60000"/>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07-F828-4789-B3DC-05E4700C0301}"/>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strRef>
              <c:f>Dashboard!$C$110:$C$114</c:f>
              <c:strCache>
                <c:ptCount val="4"/>
                <c:pt idx="0">
                  <c:v>Hardware</c:v>
                </c:pt>
                <c:pt idx="1">
                  <c:v>Login Access</c:v>
                </c:pt>
                <c:pt idx="2">
                  <c:v>Software</c:v>
                </c:pt>
                <c:pt idx="3">
                  <c:v>System</c:v>
                </c:pt>
              </c:strCache>
            </c:strRef>
          </c:cat>
          <c:val>
            <c:numRef>
              <c:f>Dashboard!$D$110:$D$114</c:f>
              <c:numCache>
                <c:formatCode>General</c:formatCode>
                <c:ptCount val="4"/>
                <c:pt idx="0">
                  <c:v>9733</c:v>
                </c:pt>
                <c:pt idx="1">
                  <c:v>29193</c:v>
                </c:pt>
                <c:pt idx="2">
                  <c:v>19570</c:v>
                </c:pt>
                <c:pt idx="3">
                  <c:v>39002</c:v>
                </c:pt>
              </c:numCache>
            </c:numRef>
          </c:val>
          <c:extLst>
            <c:ext xmlns:c16="http://schemas.microsoft.com/office/drawing/2014/chart" uri="{C3380CC4-5D6E-409C-BE32-E72D297353CC}">
              <c16:uniqueId val="{00000008-F828-4789-B3DC-05E4700C0301}"/>
            </c:ext>
          </c:extLst>
        </c:ser>
        <c:dLbls>
          <c:dLblPos val="inEnd"/>
          <c:showLegendKey val="0"/>
          <c:showVal val="0"/>
          <c:showCatName val="0"/>
          <c:showSerName val="0"/>
          <c:showPercent val="1"/>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[Template (IT Tickets).xlsx]Dashboard!PivotTable5</c:name>
    <c:fmtId val="16"/>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Count of Tickets by Severity</a:t>
            </a:r>
          </a:p>
          <a:p>
            <a:pPr>
              <a:defRPr/>
            </a:pPr>
            <a:endParaRPr lang="en-US"/>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circle"/>
          <c:size val="6"/>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Dashboard!$E$119</c:f>
              <c:strCache>
                <c:ptCount val="1"/>
                <c:pt idx="0">
                  <c:v>Total</c:v>
                </c:pt>
              </c:strCache>
            </c:strRef>
          </c:tx>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Dashboard!$D$120:$D$125</c:f>
              <c:strCache>
                <c:ptCount val="5"/>
                <c:pt idx="0">
                  <c:v>0 - Unclassified</c:v>
                </c:pt>
                <c:pt idx="1">
                  <c:v>1 - Minor</c:v>
                </c:pt>
                <c:pt idx="2">
                  <c:v>2 - Normal</c:v>
                </c:pt>
                <c:pt idx="3">
                  <c:v>3 - Major</c:v>
                </c:pt>
                <c:pt idx="4">
                  <c:v>4 - Urgent</c:v>
                </c:pt>
              </c:strCache>
            </c:strRef>
          </c:cat>
          <c:val>
            <c:numRef>
              <c:f>Dashboard!$E$120:$E$125</c:f>
              <c:numCache>
                <c:formatCode>General</c:formatCode>
                <c:ptCount val="5"/>
                <c:pt idx="0">
                  <c:v>356</c:v>
                </c:pt>
                <c:pt idx="1">
                  <c:v>2258</c:v>
                </c:pt>
                <c:pt idx="2">
                  <c:v>88656</c:v>
                </c:pt>
                <c:pt idx="3">
                  <c:v>4836</c:v>
                </c:pt>
                <c:pt idx="4">
                  <c:v>1392</c:v>
                </c:pt>
              </c:numCache>
            </c:numRef>
          </c:val>
          <c:extLst>
            <c:ext xmlns:c16="http://schemas.microsoft.com/office/drawing/2014/chart" uri="{C3380CC4-5D6E-409C-BE32-E72D297353CC}">
              <c16:uniqueId val="{00000000-826A-4A3C-B9B8-A6C32E0CB989}"/>
            </c:ext>
          </c:extLst>
        </c:ser>
        <c:dLbls>
          <c:dLblPos val="outEnd"/>
          <c:showLegendKey val="0"/>
          <c:showVal val="1"/>
          <c:showCatName val="0"/>
          <c:showSerName val="0"/>
          <c:showPercent val="0"/>
          <c:showBubbleSize val="0"/>
        </c:dLbls>
        <c:gapWidth val="100"/>
        <c:overlap val="-24"/>
        <c:axId val="1314085712"/>
        <c:axId val="473527392"/>
      </c:barChart>
      <c:catAx>
        <c:axId val="131408571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473527392"/>
        <c:crosses val="autoZero"/>
        <c:auto val="1"/>
        <c:lblAlgn val="ctr"/>
        <c:lblOffset val="100"/>
        <c:noMultiLvlLbl val="0"/>
      </c:catAx>
      <c:valAx>
        <c:axId val="47352739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3140857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[Template (IT Tickets).xlsx]Dashboard!PivotTable6</c:name>
    <c:fmtId val="21"/>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Satisfaction Rate by Priority</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circle"/>
          <c:size val="6"/>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Dashboard!$L$130</c:f>
              <c:strCache>
                <c:ptCount val="1"/>
                <c:pt idx="0">
                  <c:v>Total</c:v>
                </c:pt>
              </c:strCache>
            </c:strRef>
          </c:tx>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Dashboard!$K$131:$K$135</c:f>
              <c:strCache>
                <c:ptCount val="4"/>
                <c:pt idx="0">
                  <c:v>0 - Unassigned</c:v>
                </c:pt>
                <c:pt idx="1">
                  <c:v>1 - Low</c:v>
                </c:pt>
                <c:pt idx="2">
                  <c:v>2 - Mid</c:v>
                </c:pt>
                <c:pt idx="3">
                  <c:v>3 - High</c:v>
                </c:pt>
              </c:strCache>
            </c:strRef>
          </c:cat>
          <c:val>
            <c:numRef>
              <c:f>Dashboard!$L$131:$L$135</c:f>
              <c:numCache>
                <c:formatCode>General</c:formatCode>
                <c:ptCount val="4"/>
                <c:pt idx="0">
                  <c:v>4.0918055083305003</c:v>
                </c:pt>
                <c:pt idx="1">
                  <c:v>4.1289684916736551</c:v>
                </c:pt>
                <c:pt idx="2">
                  <c:v>4.101167560744714</c:v>
                </c:pt>
                <c:pt idx="3">
                  <c:v>4.0944330360910293</c:v>
                </c:pt>
              </c:numCache>
            </c:numRef>
          </c:val>
          <c:extLst>
            <c:ext xmlns:c16="http://schemas.microsoft.com/office/drawing/2014/chart" uri="{C3380CC4-5D6E-409C-BE32-E72D297353CC}">
              <c16:uniqueId val="{00000000-54BC-4026-BCED-1786C34F35E6}"/>
            </c:ext>
          </c:extLst>
        </c:ser>
        <c:dLbls>
          <c:dLblPos val="outEnd"/>
          <c:showLegendKey val="0"/>
          <c:showVal val="1"/>
          <c:showCatName val="0"/>
          <c:showSerName val="0"/>
          <c:showPercent val="0"/>
          <c:showBubbleSize val="0"/>
        </c:dLbls>
        <c:gapWidth val="100"/>
        <c:overlap val="-24"/>
        <c:axId val="558690400"/>
        <c:axId val="558692320"/>
      </c:barChart>
      <c:catAx>
        <c:axId val="55869040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558692320"/>
        <c:crosses val="autoZero"/>
        <c:auto val="1"/>
        <c:lblAlgn val="ctr"/>
        <c:lblOffset val="100"/>
        <c:noMultiLvlLbl val="0"/>
      </c:catAx>
      <c:valAx>
        <c:axId val="55869232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5586904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[Template (IT Tickets).xlsx]Q-12 I Objective!PivotTable8</c:name>
    <c:fmtId val="8"/>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Severity vs Average Resolution Time</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circle"/>
          <c:size val="6"/>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'Q-12 I Objective'!$C$10</c:f>
              <c:strCache>
                <c:ptCount val="1"/>
                <c:pt idx="0">
                  <c:v>Total</c:v>
                </c:pt>
              </c:strCache>
            </c:strRef>
          </c:tx>
          <c:spPr>
            <a:gradFill rotWithShape="1">
              <a:gsLst>
                <a:gs pos="0">
                  <a:schemeClr val="accent2">
                    <a:tint val="98000"/>
                    <a:hueMod val="94000"/>
                    <a:satMod val="130000"/>
                    <a:lumMod val="128000"/>
                  </a:schemeClr>
                </a:gs>
                <a:gs pos="100000">
                  <a:schemeClr val="accent2">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'Q-12 I Objective'!$B$11:$B$16</c:f>
              <c:strCache>
                <c:ptCount val="5"/>
                <c:pt idx="0">
                  <c:v>0 - Unclassified</c:v>
                </c:pt>
                <c:pt idx="1">
                  <c:v>1 - Minor</c:v>
                </c:pt>
                <c:pt idx="2">
                  <c:v>2 - Normal</c:v>
                </c:pt>
                <c:pt idx="3">
                  <c:v>3 - Major</c:v>
                </c:pt>
                <c:pt idx="4">
                  <c:v>4 - Urgent</c:v>
                </c:pt>
              </c:strCache>
            </c:strRef>
          </c:cat>
          <c:val>
            <c:numRef>
              <c:f>'Q-12 I Objective'!$C$11:$C$16</c:f>
              <c:numCache>
                <c:formatCode>General</c:formatCode>
                <c:ptCount val="5"/>
                <c:pt idx="0">
                  <c:v>2.8764044943820224</c:v>
                </c:pt>
                <c:pt idx="1">
                  <c:v>3.4353410097431354</c:v>
                </c:pt>
                <c:pt idx="2">
                  <c:v>4.6636099079588522</c:v>
                </c:pt>
                <c:pt idx="3">
                  <c:v>3.9079818031430933</c:v>
                </c:pt>
                <c:pt idx="4">
                  <c:v>2.0014367816091956</c:v>
                </c:pt>
              </c:numCache>
            </c:numRef>
          </c:val>
          <c:extLst>
            <c:ext xmlns:c16="http://schemas.microsoft.com/office/drawing/2014/chart" uri="{C3380CC4-5D6E-409C-BE32-E72D297353CC}">
              <c16:uniqueId val="{00000000-1210-4BE5-BCC3-4581D7DDAA32}"/>
            </c:ext>
          </c:extLst>
        </c:ser>
        <c:dLbls>
          <c:dLblPos val="outEnd"/>
          <c:showLegendKey val="0"/>
          <c:showVal val="1"/>
          <c:showCatName val="0"/>
          <c:showSerName val="0"/>
          <c:showPercent val="0"/>
          <c:showBubbleSize val="0"/>
        </c:dLbls>
        <c:gapWidth val="100"/>
        <c:overlap val="-24"/>
        <c:axId val="2045749984"/>
        <c:axId val="2045743744"/>
      </c:barChart>
      <c:catAx>
        <c:axId val="2045749984"/>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45743744"/>
        <c:crosses val="autoZero"/>
        <c:auto val="1"/>
        <c:lblAlgn val="ctr"/>
        <c:lblOffset val="100"/>
        <c:noMultiLvlLbl val="0"/>
      </c:catAx>
      <c:valAx>
        <c:axId val="204574374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457499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5">
  <a:schemeClr val="accent2"/>
</cs:colorStyle>
</file>

<file path=ppt/charts/colors7.xml><?xml version="1.0" encoding="utf-8"?>
<cs:colorStyle xmlns:cs="http://schemas.microsoft.com/office/drawing/2012/chartStyle" xmlns:a="http://schemas.openxmlformats.org/drawingml/2006/main" meth="withinLinear" id="15">
  <a:schemeClr val="accent2"/>
</cs:colorStyle>
</file>

<file path=ppt/charts/colors8.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68">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43CFFA-24B6-4C1A-95CF-391DD346EE8A}" type="datetimeFigureOut">
              <a:rPr lang="en-IN" smtClean="0"/>
              <a:t>17-06-2026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0D3F15-7FFF-41B7-9124-B22B64D15FC3}" type="slidenum">
              <a:rPr lang="en-IN" smtClean="0"/>
              <a:t>‹#›</a:t>
            </a:fld>
            <a:endParaRPr lang="en-IN"/>
          </a:p>
        </p:txBody>
      </p:sp>
    </p:spTree>
    <p:extLst>
      <p:ext uri="{BB962C8B-B14F-4D97-AF65-F5344CB8AC3E}">
        <p14:creationId xmlns:p14="http://schemas.microsoft.com/office/powerpoint/2010/main" val="1557922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0D3F15-7FFF-41B7-9124-B22B64D15FC3}" type="slidenum">
              <a:rPr lang="en-IN" smtClean="0"/>
              <a:t>1</a:t>
            </a:fld>
            <a:endParaRPr lang="en-IN"/>
          </a:p>
        </p:txBody>
      </p:sp>
    </p:spTree>
    <p:extLst>
      <p:ext uri="{BB962C8B-B14F-4D97-AF65-F5344CB8AC3E}">
        <p14:creationId xmlns:p14="http://schemas.microsoft.com/office/powerpoint/2010/main" val="4087065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0D3F15-7FFF-41B7-9124-B22B64D15FC3}" type="slidenum">
              <a:rPr lang="en-IN" smtClean="0"/>
              <a:t>4</a:t>
            </a:fld>
            <a:endParaRPr lang="en-IN"/>
          </a:p>
        </p:txBody>
      </p:sp>
    </p:spTree>
    <p:extLst>
      <p:ext uri="{BB962C8B-B14F-4D97-AF65-F5344CB8AC3E}">
        <p14:creationId xmlns:p14="http://schemas.microsoft.com/office/powerpoint/2010/main" val="2181097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FC13DC1-0B1D-4D41-9F19-D5415B14B23F}"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F426D-5149-4B2C-9F60-E4FF352B0D5C}"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6329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C13DC1-0B1D-4D41-9F19-D5415B14B23F}"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F426D-5149-4B2C-9F60-E4FF352B0D5C}" type="slidenum">
              <a:rPr lang="en-IN" smtClean="0"/>
              <a:t>‹#›</a:t>
            </a:fld>
            <a:endParaRPr lang="en-IN"/>
          </a:p>
        </p:txBody>
      </p:sp>
    </p:spTree>
    <p:extLst>
      <p:ext uri="{BB962C8B-B14F-4D97-AF65-F5344CB8AC3E}">
        <p14:creationId xmlns:p14="http://schemas.microsoft.com/office/powerpoint/2010/main" val="127089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C13DC1-0B1D-4D41-9F19-D5415B14B23F}"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F426D-5149-4B2C-9F60-E4FF352B0D5C}" type="slidenum">
              <a:rPr lang="en-IN" smtClean="0"/>
              <a:t>‹#›</a:t>
            </a:fld>
            <a:endParaRPr lang="en-IN"/>
          </a:p>
        </p:txBody>
      </p:sp>
    </p:spTree>
    <p:extLst>
      <p:ext uri="{BB962C8B-B14F-4D97-AF65-F5344CB8AC3E}">
        <p14:creationId xmlns:p14="http://schemas.microsoft.com/office/powerpoint/2010/main" val="1427617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C13DC1-0B1D-4D41-9F19-D5415B14B23F}"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8F426D-5149-4B2C-9F60-E4FF352B0D5C}" type="slidenum">
              <a:rPr lang="en-IN" smtClean="0"/>
              <a:t>‹#›</a:t>
            </a:fld>
            <a:endParaRPr lang="en-IN"/>
          </a:p>
        </p:txBody>
      </p:sp>
    </p:spTree>
    <p:extLst>
      <p:ext uri="{BB962C8B-B14F-4D97-AF65-F5344CB8AC3E}">
        <p14:creationId xmlns:p14="http://schemas.microsoft.com/office/powerpoint/2010/main" val="659065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C13DC1-0B1D-4D41-9F19-D5415B14B23F}" type="datetimeFigureOut">
              <a:rPr lang="en-IN" smtClean="0"/>
              <a:t>17-06-2026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8F426D-5149-4B2C-9F60-E4FF352B0D5C}" type="slidenum">
              <a:rPr lang="en-IN" smtClean="0"/>
              <a:t>‹#›</a:t>
            </a:fld>
            <a:endParaRPr lang="en-IN"/>
          </a:p>
        </p:txBody>
      </p:sp>
    </p:spTree>
    <p:extLst>
      <p:ext uri="{BB962C8B-B14F-4D97-AF65-F5344CB8AC3E}">
        <p14:creationId xmlns:p14="http://schemas.microsoft.com/office/powerpoint/2010/main" val="3094857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C13DC1-0B1D-4D41-9F19-D5415B14B23F}" type="datetimeFigureOut">
              <a:rPr lang="en-IN" smtClean="0"/>
              <a:t>17-06-2026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8F426D-5149-4B2C-9F60-E4FF352B0D5C}" type="slidenum">
              <a:rPr lang="en-IN" smtClean="0"/>
              <a:t>‹#›</a:t>
            </a:fld>
            <a:endParaRPr lang="en-IN"/>
          </a:p>
        </p:txBody>
      </p:sp>
    </p:spTree>
    <p:extLst>
      <p:ext uri="{BB962C8B-B14F-4D97-AF65-F5344CB8AC3E}">
        <p14:creationId xmlns:p14="http://schemas.microsoft.com/office/powerpoint/2010/main" val="3730349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C13DC1-0B1D-4D41-9F19-D5415B14B23F}" type="datetimeFigureOut">
              <a:rPr lang="en-IN" smtClean="0"/>
              <a:t>17-06-2026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8F426D-5149-4B2C-9F60-E4FF352B0D5C}" type="slidenum">
              <a:rPr lang="en-IN" smtClean="0"/>
              <a:t>‹#›</a:t>
            </a:fld>
            <a:endParaRPr lang="en-IN"/>
          </a:p>
        </p:txBody>
      </p:sp>
    </p:spTree>
    <p:extLst>
      <p:ext uri="{BB962C8B-B14F-4D97-AF65-F5344CB8AC3E}">
        <p14:creationId xmlns:p14="http://schemas.microsoft.com/office/powerpoint/2010/main" val="1100191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C13DC1-0B1D-4D41-9F19-D5415B14B23F}"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8F426D-5149-4B2C-9F60-E4FF352B0D5C}" type="slidenum">
              <a:rPr lang="en-IN" smtClean="0"/>
              <a:t>‹#›</a:t>
            </a:fld>
            <a:endParaRPr lang="en-IN"/>
          </a:p>
        </p:txBody>
      </p:sp>
    </p:spTree>
    <p:extLst>
      <p:ext uri="{BB962C8B-B14F-4D97-AF65-F5344CB8AC3E}">
        <p14:creationId xmlns:p14="http://schemas.microsoft.com/office/powerpoint/2010/main" val="903481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C13DC1-0B1D-4D41-9F19-D5415B14B23F}"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8F426D-5149-4B2C-9F60-E4FF352B0D5C}" type="slidenum">
              <a:rPr lang="en-IN" smtClean="0"/>
              <a:t>‹#›</a:t>
            </a:fld>
            <a:endParaRPr lang="en-IN"/>
          </a:p>
        </p:txBody>
      </p:sp>
    </p:spTree>
    <p:extLst>
      <p:ext uri="{BB962C8B-B14F-4D97-AF65-F5344CB8AC3E}">
        <p14:creationId xmlns:p14="http://schemas.microsoft.com/office/powerpoint/2010/main" val="2080368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4FC13DC1-0B1D-4D41-9F19-D5415B14B23F}" type="datetimeFigureOut">
              <a:rPr lang="en-IN" smtClean="0"/>
              <a:t>17-06-2026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8F426D-5149-4B2C-9F60-E4FF352B0D5C}" type="slidenum">
              <a:rPr lang="en-IN" smtClean="0"/>
              <a:t>‹#›</a:t>
            </a:fld>
            <a:endParaRPr lang="en-IN"/>
          </a:p>
        </p:txBody>
      </p:sp>
    </p:spTree>
    <p:extLst>
      <p:ext uri="{BB962C8B-B14F-4D97-AF65-F5344CB8AC3E}">
        <p14:creationId xmlns:p14="http://schemas.microsoft.com/office/powerpoint/2010/main" val="808659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C13DC1-0B1D-4D41-9F19-D5415B14B23F}"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F426D-5149-4B2C-9F60-E4FF352B0D5C}" type="slidenum">
              <a:rPr lang="en-IN" smtClean="0"/>
              <a:t>‹#›</a:t>
            </a:fld>
            <a:endParaRPr lang="en-IN"/>
          </a:p>
        </p:txBody>
      </p:sp>
    </p:spTree>
    <p:extLst>
      <p:ext uri="{BB962C8B-B14F-4D97-AF65-F5344CB8AC3E}">
        <p14:creationId xmlns:p14="http://schemas.microsoft.com/office/powerpoint/2010/main" val="2239878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C13DC1-0B1D-4D41-9F19-D5415B14B23F}"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F426D-5149-4B2C-9F60-E4FF352B0D5C}"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6477414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C13DC1-0B1D-4D41-9F19-D5415B14B23F}"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F426D-5149-4B2C-9F60-E4FF352B0D5C}" type="slidenum">
              <a:rPr lang="en-IN" smtClean="0"/>
              <a:t>‹#›</a:t>
            </a:fld>
            <a:endParaRPr lang="en-IN"/>
          </a:p>
        </p:txBody>
      </p:sp>
    </p:spTree>
    <p:extLst>
      <p:ext uri="{BB962C8B-B14F-4D97-AF65-F5344CB8AC3E}">
        <p14:creationId xmlns:p14="http://schemas.microsoft.com/office/powerpoint/2010/main" val="3330147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C13DC1-0B1D-4D41-9F19-D5415B14B23F}"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F426D-5149-4B2C-9F60-E4FF352B0D5C}"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257902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C13DC1-0B1D-4D41-9F19-D5415B14B23F}"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F426D-5149-4B2C-9F60-E4FF352B0D5C}" type="slidenum">
              <a:rPr lang="en-IN" smtClean="0"/>
              <a:t>‹#›</a:t>
            </a:fld>
            <a:endParaRPr lang="en-IN"/>
          </a:p>
        </p:txBody>
      </p:sp>
    </p:spTree>
    <p:extLst>
      <p:ext uri="{BB962C8B-B14F-4D97-AF65-F5344CB8AC3E}">
        <p14:creationId xmlns:p14="http://schemas.microsoft.com/office/powerpoint/2010/main" val="5011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C13DC1-0B1D-4D41-9F19-D5415B14B23F}"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F426D-5149-4B2C-9F60-E4FF352B0D5C}" type="slidenum">
              <a:rPr lang="en-IN" smtClean="0"/>
              <a:t>‹#›</a:t>
            </a:fld>
            <a:endParaRPr lang="en-IN"/>
          </a:p>
        </p:txBody>
      </p:sp>
    </p:spTree>
    <p:extLst>
      <p:ext uri="{BB962C8B-B14F-4D97-AF65-F5344CB8AC3E}">
        <p14:creationId xmlns:p14="http://schemas.microsoft.com/office/powerpoint/2010/main" val="42190421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C13DC1-0B1D-4D41-9F19-D5415B14B23F}"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F426D-5149-4B2C-9F60-E4FF352B0D5C}" type="slidenum">
              <a:rPr lang="en-IN" smtClean="0"/>
              <a:t>‹#›</a:t>
            </a:fld>
            <a:endParaRPr lang="en-IN"/>
          </a:p>
        </p:txBody>
      </p:sp>
    </p:spTree>
    <p:extLst>
      <p:ext uri="{BB962C8B-B14F-4D97-AF65-F5344CB8AC3E}">
        <p14:creationId xmlns:p14="http://schemas.microsoft.com/office/powerpoint/2010/main" val="3729366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4FC13DC1-0B1D-4D41-9F19-D5415B14B23F}" type="datetimeFigureOut">
              <a:rPr lang="en-IN" smtClean="0"/>
              <a:t>17-06-2026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F88F426D-5149-4B2C-9F60-E4FF352B0D5C}" type="slidenum">
              <a:rPr lang="en-IN" smtClean="0"/>
              <a:t>‹#›</a:t>
            </a:fld>
            <a:endParaRPr lang="en-IN"/>
          </a:p>
        </p:txBody>
      </p:sp>
    </p:spTree>
    <p:extLst>
      <p:ext uri="{BB962C8B-B14F-4D97-AF65-F5344CB8AC3E}">
        <p14:creationId xmlns:p14="http://schemas.microsoft.com/office/powerpoint/2010/main" val="978302657"/>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F2B3A-28FB-E56A-65F1-50DCDBBAD779}"/>
              </a:ext>
            </a:extLst>
          </p:cNvPr>
          <p:cNvSpPr>
            <a:spLocks noGrp="1"/>
          </p:cNvSpPr>
          <p:nvPr>
            <p:ph type="ctrTitle"/>
          </p:nvPr>
        </p:nvSpPr>
        <p:spPr/>
        <p:txBody>
          <a:bodyPr anchor="ctr">
            <a:normAutofit fontScale="90000"/>
          </a:bodyPr>
          <a:lstStyle/>
          <a:p>
            <a:pPr algn="ctr"/>
            <a:r>
              <a:rPr lang="en-IN" sz="6600" b="1" i="1" dirty="0">
                <a:solidFill>
                  <a:schemeClr val="bg1"/>
                </a:solidFill>
                <a:latin typeface="Rockwell" panose="02060603020205020403" pitchFamily="18" charset="0"/>
              </a:rPr>
              <a:t>IT TICKET ANALYSIS</a:t>
            </a:r>
            <a:br>
              <a:rPr lang="en-IN" sz="6600" b="1" i="1" dirty="0">
                <a:solidFill>
                  <a:schemeClr val="bg1"/>
                </a:solidFill>
                <a:latin typeface="Rockwell" panose="02060603020205020403" pitchFamily="18" charset="0"/>
              </a:rPr>
            </a:br>
            <a:r>
              <a:rPr lang="en-IN" sz="6600" b="1" i="1" dirty="0">
                <a:solidFill>
                  <a:schemeClr val="bg1"/>
                </a:solidFill>
                <a:latin typeface="Rockwell" panose="02060603020205020403" pitchFamily="18" charset="0"/>
              </a:rPr>
              <a:t>           </a:t>
            </a:r>
            <a:r>
              <a:rPr lang="en-IN" sz="3200" b="1" i="1" dirty="0">
                <a:solidFill>
                  <a:schemeClr val="bg1"/>
                </a:solidFill>
                <a:latin typeface="Rockwell" panose="02060603020205020403" pitchFamily="18" charset="0"/>
              </a:rPr>
              <a:t>A  Data Analytics Project</a:t>
            </a:r>
            <a:endParaRPr lang="en-IN" b="1" dirty="0">
              <a:solidFill>
                <a:schemeClr val="bg1"/>
              </a:solidFill>
            </a:endParaRPr>
          </a:p>
        </p:txBody>
      </p:sp>
      <p:sp>
        <p:nvSpPr>
          <p:cNvPr id="3" name="Subtitle 2">
            <a:extLst>
              <a:ext uri="{FF2B5EF4-FFF2-40B4-BE49-F238E27FC236}">
                <a16:creationId xmlns:a16="http://schemas.microsoft.com/office/drawing/2014/main" id="{07774D36-322A-2389-4EF4-0111694AF461}"/>
              </a:ext>
            </a:extLst>
          </p:cNvPr>
          <p:cNvSpPr>
            <a:spLocks noGrp="1"/>
          </p:cNvSpPr>
          <p:nvPr>
            <p:ph type="subTitle" idx="1"/>
          </p:nvPr>
        </p:nvSpPr>
        <p:spPr>
          <a:xfrm>
            <a:off x="1058820" y="3300307"/>
            <a:ext cx="9228201" cy="1645920"/>
          </a:xfrm>
        </p:spPr>
        <p:txBody>
          <a:bodyPr anchor="ctr"/>
          <a:lstStyle/>
          <a:p>
            <a:r>
              <a:rPr lang="en-IN" b="1" dirty="0">
                <a:solidFill>
                  <a:schemeClr val="bg1"/>
                </a:solidFill>
              </a:rPr>
              <a:t>      </a:t>
            </a:r>
            <a:r>
              <a:rPr lang="en-IN" b="1" u="sng" dirty="0">
                <a:solidFill>
                  <a:schemeClr val="bg1"/>
                </a:solidFill>
              </a:rPr>
              <a:t>BY ASHUTOSH GIRI</a:t>
            </a:r>
          </a:p>
        </p:txBody>
      </p:sp>
    </p:spTree>
    <p:extLst>
      <p:ext uri="{BB962C8B-B14F-4D97-AF65-F5344CB8AC3E}">
        <p14:creationId xmlns:p14="http://schemas.microsoft.com/office/powerpoint/2010/main" val="256412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2ED87-BBA0-B9AF-7708-7B1E51B976F7}"/>
              </a:ext>
            </a:extLst>
          </p:cNvPr>
          <p:cNvSpPr>
            <a:spLocks noGrp="1"/>
          </p:cNvSpPr>
          <p:nvPr>
            <p:ph type="title"/>
          </p:nvPr>
        </p:nvSpPr>
        <p:spPr>
          <a:xfrm>
            <a:off x="895878" y="321732"/>
            <a:ext cx="8534400" cy="1507067"/>
          </a:xfrm>
        </p:spPr>
        <p:txBody>
          <a:bodyPr>
            <a:normAutofit/>
          </a:bodyPr>
          <a:lstStyle/>
          <a:p>
            <a:pPr algn="ctr"/>
            <a:r>
              <a:rPr lang="en-IN" sz="3200" b="1" dirty="0">
                <a:solidFill>
                  <a:schemeClr val="bg1"/>
                </a:solidFill>
                <a:latin typeface="Arial Rounded MT Bold" panose="020F0704030504030204" pitchFamily="34" charset="0"/>
              </a:rPr>
              <a:t>PROBLEM STATEMENT</a:t>
            </a:r>
          </a:p>
        </p:txBody>
      </p:sp>
      <p:sp>
        <p:nvSpPr>
          <p:cNvPr id="3" name="Content Placeholder 2">
            <a:extLst>
              <a:ext uri="{FF2B5EF4-FFF2-40B4-BE49-F238E27FC236}">
                <a16:creationId xmlns:a16="http://schemas.microsoft.com/office/drawing/2014/main" id="{C00A4D34-FDDC-322E-DED2-E1CFE14E9367}"/>
              </a:ext>
            </a:extLst>
          </p:cNvPr>
          <p:cNvSpPr>
            <a:spLocks noGrp="1"/>
          </p:cNvSpPr>
          <p:nvPr>
            <p:ph idx="1"/>
          </p:nvPr>
        </p:nvSpPr>
        <p:spPr>
          <a:xfrm>
            <a:off x="548744" y="1693334"/>
            <a:ext cx="8534400" cy="3615267"/>
          </a:xfrm>
        </p:spPr>
        <p:txBody>
          <a:bodyPr/>
          <a:lstStyle/>
          <a:p>
            <a:r>
              <a:rPr lang="en-US" b="1" dirty="0">
                <a:solidFill>
                  <a:schemeClr val="bg1"/>
                </a:solidFill>
              </a:rPr>
              <a:t>To analyze the IT support ticket management system to understand the performance of IT agents, the efficiency of ticket resolution, and the satisfaction levels of employees.</a:t>
            </a:r>
          </a:p>
          <a:p>
            <a:r>
              <a:rPr lang="en-US" b="1" dirty="0">
                <a:solidFill>
                  <a:schemeClr val="bg1"/>
                </a:solidFill>
              </a:rPr>
              <a:t>The analysis aims to identify high and low performers among IT agents, assess the overall effectiveness of the team, and pinpoint areas for improvement in the ticket resolution process.</a:t>
            </a:r>
          </a:p>
          <a:p>
            <a:r>
              <a:rPr lang="en-US" b="1" dirty="0">
                <a:solidFill>
                  <a:schemeClr val="bg1"/>
                </a:solidFill>
              </a:rPr>
              <a:t>The ultimate goal is to make informed staffing decisions, including hiring, firing and training, to enhance overall service quality and team performance</a:t>
            </a:r>
            <a:r>
              <a:rPr lang="en-US" dirty="0">
                <a:solidFill>
                  <a:schemeClr val="bg1"/>
                </a:solidFill>
              </a:rPr>
              <a:t>.</a:t>
            </a:r>
          </a:p>
          <a:p>
            <a:endParaRPr lang="en-IN" dirty="0"/>
          </a:p>
        </p:txBody>
      </p:sp>
    </p:spTree>
    <p:extLst>
      <p:ext uri="{BB962C8B-B14F-4D97-AF65-F5344CB8AC3E}">
        <p14:creationId xmlns:p14="http://schemas.microsoft.com/office/powerpoint/2010/main" val="569254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D3E8F-B481-C625-88BE-DD1ED3EEA60F}"/>
              </a:ext>
            </a:extLst>
          </p:cNvPr>
          <p:cNvSpPr>
            <a:spLocks noGrp="1"/>
          </p:cNvSpPr>
          <p:nvPr>
            <p:ph type="title"/>
          </p:nvPr>
        </p:nvSpPr>
        <p:spPr>
          <a:xfrm>
            <a:off x="785813" y="0"/>
            <a:ext cx="8534400" cy="1507067"/>
          </a:xfrm>
        </p:spPr>
        <p:txBody>
          <a:bodyPr>
            <a:normAutofit/>
          </a:bodyPr>
          <a:lstStyle/>
          <a:p>
            <a:pPr algn="ctr"/>
            <a:r>
              <a:rPr lang="en-IN" sz="3200" b="1" dirty="0">
                <a:solidFill>
                  <a:schemeClr val="bg1"/>
                </a:solidFill>
                <a:latin typeface="Arial Rounded MT Bold" panose="020F0704030504030204" pitchFamily="34" charset="0"/>
              </a:rPr>
              <a:t>Data description</a:t>
            </a:r>
          </a:p>
        </p:txBody>
      </p:sp>
      <p:pic>
        <p:nvPicPr>
          <p:cNvPr id="4" name="Content Placeholder 3">
            <a:extLst>
              <a:ext uri="{FF2B5EF4-FFF2-40B4-BE49-F238E27FC236}">
                <a16:creationId xmlns:a16="http://schemas.microsoft.com/office/drawing/2014/main" id="{2499F89F-57A7-91A2-3982-F816A118A0CA}"/>
              </a:ext>
            </a:extLst>
          </p:cNvPr>
          <p:cNvPicPr>
            <a:picLocks noGrp="1" noChangeAspect="1"/>
          </p:cNvPicPr>
          <p:nvPr>
            <p:ph idx="1"/>
          </p:nvPr>
        </p:nvPicPr>
        <p:blipFill>
          <a:blip r:embed="rId2"/>
          <a:stretch>
            <a:fillRect/>
          </a:stretch>
        </p:blipFill>
        <p:spPr>
          <a:xfrm>
            <a:off x="1276880" y="2824607"/>
            <a:ext cx="8534400" cy="2914940"/>
          </a:xfrm>
          <a:prstGeom prst="rect">
            <a:avLst/>
          </a:prstGeom>
        </p:spPr>
      </p:pic>
      <p:sp>
        <p:nvSpPr>
          <p:cNvPr id="6" name="TextBox 5">
            <a:extLst>
              <a:ext uri="{FF2B5EF4-FFF2-40B4-BE49-F238E27FC236}">
                <a16:creationId xmlns:a16="http://schemas.microsoft.com/office/drawing/2014/main" id="{12D09083-98DA-2202-D54A-15C7D3F382F2}"/>
              </a:ext>
            </a:extLst>
          </p:cNvPr>
          <p:cNvSpPr txBox="1"/>
          <p:nvPr/>
        </p:nvSpPr>
        <p:spPr>
          <a:xfrm>
            <a:off x="1276880" y="1364727"/>
            <a:ext cx="8919634" cy="1323439"/>
          </a:xfrm>
          <a:prstGeom prst="rect">
            <a:avLst/>
          </a:prstGeom>
          <a:noFill/>
        </p:spPr>
        <p:txBody>
          <a:bodyPr wrap="square">
            <a:spAutoFit/>
          </a:bodyPr>
          <a:lstStyle/>
          <a:p>
            <a:pPr>
              <a:buNone/>
            </a:pPr>
            <a:r>
              <a:rPr lang="en-US" sz="2000" b="1" dirty="0">
                <a:solidFill>
                  <a:schemeClr val="bg1"/>
                </a:solidFill>
              </a:rPr>
              <a:t>The dataset contains multiple columns including Ticket ID, Date, Agent ID, Employee ID, Agent Name, Satisfaction Rate, Resolution Time, Age of Employee, Request Category, Issue Type, Severity, Priority of Issue etc.</a:t>
            </a:r>
          </a:p>
        </p:txBody>
      </p:sp>
    </p:spTree>
    <p:extLst>
      <p:ext uri="{BB962C8B-B14F-4D97-AF65-F5344CB8AC3E}">
        <p14:creationId xmlns:p14="http://schemas.microsoft.com/office/powerpoint/2010/main" val="4290939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DFDF1-A1CD-5AB4-4B6C-EB4EC31553F1}"/>
              </a:ext>
            </a:extLst>
          </p:cNvPr>
          <p:cNvSpPr>
            <a:spLocks noGrp="1"/>
          </p:cNvSpPr>
          <p:nvPr>
            <p:ph type="title"/>
          </p:nvPr>
        </p:nvSpPr>
        <p:spPr>
          <a:xfrm>
            <a:off x="1243012" y="465666"/>
            <a:ext cx="8534400" cy="1507067"/>
          </a:xfrm>
        </p:spPr>
        <p:txBody>
          <a:bodyPr/>
          <a:lstStyle/>
          <a:p>
            <a:pPr algn="ctr"/>
            <a:r>
              <a:rPr lang="en-IN" dirty="0">
                <a:solidFill>
                  <a:schemeClr val="bg1"/>
                </a:solidFill>
                <a:latin typeface="Arial Rounded MT Bold" panose="020F0704030504030204" pitchFamily="34" charset="0"/>
              </a:rPr>
              <a:t>workflow</a:t>
            </a:r>
          </a:p>
        </p:txBody>
      </p:sp>
      <p:sp>
        <p:nvSpPr>
          <p:cNvPr id="3" name="Content Placeholder 2">
            <a:extLst>
              <a:ext uri="{FF2B5EF4-FFF2-40B4-BE49-F238E27FC236}">
                <a16:creationId xmlns:a16="http://schemas.microsoft.com/office/drawing/2014/main" id="{B94F6B01-5AC5-97B1-0C48-1E7300235B8E}"/>
              </a:ext>
            </a:extLst>
          </p:cNvPr>
          <p:cNvSpPr>
            <a:spLocks noGrp="1"/>
          </p:cNvSpPr>
          <p:nvPr>
            <p:ph idx="1"/>
          </p:nvPr>
        </p:nvSpPr>
        <p:spPr>
          <a:xfrm>
            <a:off x="1828800" y="1888067"/>
            <a:ext cx="8534400" cy="3615267"/>
          </a:xfrm>
        </p:spPr>
        <p:txBody>
          <a:bodyPr/>
          <a:lstStyle/>
          <a:p>
            <a:pPr>
              <a:buFont typeface="Wingdings" panose="05000000000000000000" pitchFamily="2" charset="2"/>
              <a:buChar char="v"/>
            </a:pPr>
            <a:r>
              <a:rPr lang="en-US" dirty="0"/>
              <a:t>  </a:t>
            </a:r>
            <a:r>
              <a:rPr lang="en-US" b="1" dirty="0">
                <a:solidFill>
                  <a:schemeClr val="bg1"/>
                </a:solidFill>
              </a:rPr>
              <a:t>Data Collection </a:t>
            </a:r>
          </a:p>
          <a:p>
            <a:pPr>
              <a:buFont typeface="Wingdings" panose="05000000000000000000" pitchFamily="2" charset="2"/>
              <a:buChar char="v"/>
            </a:pPr>
            <a:r>
              <a:rPr lang="en-US" b="1" dirty="0">
                <a:solidFill>
                  <a:schemeClr val="bg1"/>
                </a:solidFill>
              </a:rPr>
              <a:t>  Data Cleaning </a:t>
            </a:r>
          </a:p>
          <a:p>
            <a:pPr>
              <a:buFont typeface="Wingdings" panose="05000000000000000000" pitchFamily="2" charset="2"/>
              <a:buChar char="v"/>
            </a:pPr>
            <a:r>
              <a:rPr lang="en-US" b="1" dirty="0">
                <a:solidFill>
                  <a:schemeClr val="bg1"/>
                </a:solidFill>
              </a:rPr>
              <a:t>  Data Analysis</a:t>
            </a:r>
          </a:p>
          <a:p>
            <a:pPr>
              <a:buFont typeface="Wingdings" panose="05000000000000000000" pitchFamily="2" charset="2"/>
              <a:buChar char="v"/>
            </a:pPr>
            <a:r>
              <a:rPr lang="en-US" b="1" dirty="0">
                <a:solidFill>
                  <a:schemeClr val="bg1"/>
                </a:solidFill>
              </a:rPr>
              <a:t>  Data Visualization </a:t>
            </a:r>
          </a:p>
          <a:p>
            <a:pPr>
              <a:buFont typeface="Wingdings" panose="05000000000000000000" pitchFamily="2" charset="2"/>
              <a:buChar char="v"/>
            </a:pPr>
            <a:r>
              <a:rPr lang="en-US" b="1" dirty="0">
                <a:solidFill>
                  <a:schemeClr val="bg1"/>
                </a:solidFill>
              </a:rPr>
              <a:t>  Insights &amp; Recommendations</a:t>
            </a:r>
            <a:br>
              <a:rPr lang="en-US" b="1" dirty="0">
                <a:solidFill>
                  <a:schemeClr val="bg1"/>
                </a:solidFill>
              </a:rPr>
            </a:br>
            <a:r>
              <a:rPr lang="en-US" b="1" dirty="0">
                <a:solidFill>
                  <a:schemeClr val="bg1"/>
                </a:solidFill>
              </a:rPr>
              <a:t>    </a:t>
            </a:r>
            <a:br>
              <a:rPr lang="en-US" b="1" dirty="0">
                <a:solidFill>
                  <a:schemeClr val="bg1"/>
                </a:solidFill>
              </a:rPr>
            </a:br>
            <a:r>
              <a:rPr lang="en-US" b="1" dirty="0"/>
              <a:t>  </a:t>
            </a:r>
            <a:br>
              <a:rPr lang="en-US" b="1" dirty="0"/>
            </a:br>
            <a:r>
              <a:rPr lang="en-US" dirty="0"/>
              <a:t>  </a:t>
            </a:r>
            <a:endParaRPr lang="en-IN" dirty="0"/>
          </a:p>
        </p:txBody>
      </p:sp>
    </p:spTree>
    <p:extLst>
      <p:ext uri="{BB962C8B-B14F-4D97-AF65-F5344CB8AC3E}">
        <p14:creationId xmlns:p14="http://schemas.microsoft.com/office/powerpoint/2010/main" val="253566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CC20D-443A-DDAA-12DF-77B1CDCDF53B}"/>
              </a:ext>
            </a:extLst>
          </p:cNvPr>
          <p:cNvSpPr>
            <a:spLocks noGrp="1"/>
          </p:cNvSpPr>
          <p:nvPr>
            <p:ph type="title"/>
          </p:nvPr>
        </p:nvSpPr>
        <p:spPr>
          <a:xfrm>
            <a:off x="980281" y="0"/>
            <a:ext cx="8534400" cy="1507067"/>
          </a:xfrm>
        </p:spPr>
        <p:txBody>
          <a:bodyPr/>
          <a:lstStyle/>
          <a:p>
            <a:pPr algn="ctr"/>
            <a:r>
              <a:rPr lang="en-IN" b="1" dirty="0">
                <a:solidFill>
                  <a:schemeClr val="bg1"/>
                </a:solidFill>
                <a:latin typeface="Arial Rounded MT Bold" panose="020F0704030504030204" pitchFamily="34" charset="0"/>
              </a:rPr>
              <a:t>MONTHLY TICKET VOLUME TREND</a:t>
            </a:r>
          </a:p>
        </p:txBody>
      </p:sp>
      <p:sp>
        <p:nvSpPr>
          <p:cNvPr id="3" name="Content Placeholder 2">
            <a:extLst>
              <a:ext uri="{FF2B5EF4-FFF2-40B4-BE49-F238E27FC236}">
                <a16:creationId xmlns:a16="http://schemas.microsoft.com/office/drawing/2014/main" id="{7FB295C2-20F6-B6D9-2BDF-8AA350D9582B}"/>
              </a:ext>
            </a:extLst>
          </p:cNvPr>
          <p:cNvSpPr>
            <a:spLocks noGrp="1"/>
          </p:cNvSpPr>
          <p:nvPr>
            <p:ph idx="1"/>
          </p:nvPr>
        </p:nvSpPr>
        <p:spPr>
          <a:xfrm>
            <a:off x="479162" y="1244599"/>
            <a:ext cx="4533106" cy="3539066"/>
          </a:xfrm>
        </p:spPr>
        <p:txBody>
          <a:bodyPr>
            <a:normAutofit lnSpcReduction="10000"/>
          </a:bodyPr>
          <a:lstStyle/>
          <a:p>
            <a:r>
              <a:rPr lang="en-US" b="1" dirty="0">
                <a:solidFill>
                  <a:schemeClr val="bg1"/>
                </a:solidFill>
              </a:rPr>
              <a:t>Insight:</a:t>
            </a:r>
            <a:br>
              <a:rPr lang="en-US" b="1" dirty="0">
                <a:solidFill>
                  <a:schemeClr val="bg1"/>
                </a:solidFill>
              </a:rPr>
            </a:br>
            <a:r>
              <a:rPr lang="en-US" b="1" dirty="0">
                <a:solidFill>
                  <a:schemeClr val="bg1"/>
                </a:solidFill>
              </a:rPr>
              <a:t>Ticket volume increases steadily throughout the year peaking towards mid to end of year.</a:t>
            </a:r>
            <a:br>
              <a:rPr lang="en-US" b="1" dirty="0">
                <a:solidFill>
                  <a:schemeClr val="bg1"/>
                </a:solidFill>
              </a:rPr>
            </a:br>
            <a:endParaRPr lang="en-US" b="1" dirty="0">
              <a:solidFill>
                <a:schemeClr val="bg1"/>
              </a:solidFill>
            </a:endParaRPr>
          </a:p>
          <a:p>
            <a:r>
              <a:rPr lang="en-US" b="1" dirty="0">
                <a:solidFill>
                  <a:schemeClr val="bg1"/>
                </a:solidFill>
              </a:rPr>
              <a:t>Implication: </a:t>
            </a:r>
            <a:br>
              <a:rPr lang="en-US" b="1" dirty="0">
                <a:solidFill>
                  <a:schemeClr val="bg1"/>
                </a:solidFill>
              </a:rPr>
            </a:br>
            <a:r>
              <a:rPr lang="en-US" b="1" dirty="0">
                <a:solidFill>
                  <a:schemeClr val="bg1"/>
                </a:solidFill>
              </a:rPr>
              <a:t>IT teams should prepare for higher workloads in the second half of the year by increasing staffing or resources in advance.</a:t>
            </a:r>
            <a:br>
              <a:rPr lang="en-US" b="1" dirty="0">
                <a:solidFill>
                  <a:schemeClr val="bg1"/>
                </a:solidFill>
              </a:rPr>
            </a:br>
            <a:endParaRPr lang="en-US" b="1" dirty="0">
              <a:solidFill>
                <a:schemeClr val="bg1"/>
              </a:solidFill>
            </a:endParaRPr>
          </a:p>
        </p:txBody>
      </p:sp>
      <p:graphicFrame>
        <p:nvGraphicFramePr>
          <p:cNvPr id="5" name="Chart 4">
            <a:extLst>
              <a:ext uri="{FF2B5EF4-FFF2-40B4-BE49-F238E27FC236}">
                <a16:creationId xmlns:a16="http://schemas.microsoft.com/office/drawing/2014/main" id="{FE013637-FB78-4131-ABF4-717CFDB7BA32}"/>
              </a:ext>
            </a:extLst>
          </p:cNvPr>
          <p:cNvGraphicFramePr>
            <a:graphicFrameLocks/>
          </p:cNvGraphicFramePr>
          <p:nvPr>
            <p:extLst>
              <p:ext uri="{D42A27DB-BD31-4B8C-83A1-F6EECF244321}">
                <p14:modId xmlns:p14="http://schemas.microsoft.com/office/powerpoint/2010/main" val="107919225"/>
              </p:ext>
            </p:extLst>
          </p:nvPr>
        </p:nvGraphicFramePr>
        <p:xfrm>
          <a:off x="5440627" y="1422400"/>
          <a:ext cx="4074054" cy="295486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64488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7E8E0-4BEB-83BE-0FBA-14F7BE2EAD32}"/>
              </a:ext>
            </a:extLst>
          </p:cNvPr>
          <p:cNvSpPr>
            <a:spLocks noGrp="1"/>
          </p:cNvSpPr>
          <p:nvPr>
            <p:ph type="title"/>
          </p:nvPr>
        </p:nvSpPr>
        <p:spPr>
          <a:xfrm>
            <a:off x="312474" y="110068"/>
            <a:ext cx="11414654" cy="1507067"/>
          </a:xfrm>
        </p:spPr>
        <p:txBody>
          <a:bodyPr>
            <a:noAutofit/>
          </a:bodyPr>
          <a:lstStyle/>
          <a:p>
            <a:pPr algn="ctr">
              <a:defRPr sz="2128" b="1" i="0" u="none" strike="noStrike" kern="1200" spc="100" baseline="0">
                <a:solidFill>
                  <a:prstClr val="white">
                    <a:lumMod val="95000"/>
                  </a:prstClr>
                </a:solidFill>
                <a:effectLst>
                  <a:outerShdw blurRad="50800" dist="38100" dir="5400000" algn="t" rotWithShape="0">
                    <a:prstClr val="black">
                      <a:alpha val="40000"/>
                    </a:prstClr>
                  </a:outerShdw>
                </a:effectLst>
                <a:latin typeface="+mn-lt"/>
                <a:ea typeface="+mn-ea"/>
                <a:cs typeface="+mn-cs"/>
              </a:defRPr>
            </a:pPr>
            <a:r>
              <a:rPr lang="en-IN" sz="2800" b="1" spc="100" dirty="0">
                <a:solidFill>
                  <a:schemeClr val="bg1"/>
                </a:solidFill>
                <a:effectLst>
                  <a:outerShdw blurRad="50800" dist="38100" dir="5400000" algn="t" rotWithShape="0">
                    <a:prstClr val="black">
                      <a:alpha val="40000"/>
                    </a:prstClr>
                  </a:outerShdw>
                </a:effectLst>
                <a:latin typeface="Arial Rounded MT Bold" panose="020F0704030504030204" pitchFamily="34" charset="0"/>
              </a:rPr>
              <a:t>Average Resolution Time by Request Category (Quarter-wise) </a:t>
            </a:r>
          </a:p>
        </p:txBody>
      </p:sp>
      <p:sp>
        <p:nvSpPr>
          <p:cNvPr id="3" name="Content Placeholder 2">
            <a:extLst>
              <a:ext uri="{FF2B5EF4-FFF2-40B4-BE49-F238E27FC236}">
                <a16:creationId xmlns:a16="http://schemas.microsoft.com/office/drawing/2014/main" id="{3C821A65-B839-F524-624D-2FFF61BBB42F}"/>
              </a:ext>
            </a:extLst>
          </p:cNvPr>
          <p:cNvSpPr>
            <a:spLocks noGrp="1"/>
          </p:cNvSpPr>
          <p:nvPr>
            <p:ph idx="1"/>
          </p:nvPr>
        </p:nvSpPr>
        <p:spPr>
          <a:xfrm>
            <a:off x="100011" y="1422402"/>
            <a:ext cx="4311122" cy="4351865"/>
          </a:xfrm>
        </p:spPr>
        <p:txBody>
          <a:bodyPr>
            <a:normAutofit fontScale="47500" lnSpcReduction="20000"/>
          </a:bodyPr>
          <a:lstStyle/>
          <a:p>
            <a:r>
              <a:rPr lang="en-US" sz="2900" b="1" dirty="0">
                <a:solidFill>
                  <a:schemeClr val="bg1"/>
                </a:solidFill>
              </a:rPr>
              <a:t>Hardware takes the longest to resolve — around 7.5 to 7.7 days across all quarters, meaning hardware issues are consistently the most time-consuming.</a:t>
            </a:r>
          </a:p>
          <a:p>
            <a:r>
              <a:rPr lang="en-US" sz="2900" b="1" dirty="0">
                <a:solidFill>
                  <a:schemeClr val="bg1"/>
                </a:solidFill>
              </a:rPr>
              <a:t>Login Access is resolved super quickly — under half a day (0.31 days), so the team handles access issues almost instantly.</a:t>
            </a:r>
          </a:p>
          <a:p>
            <a:r>
              <a:rPr lang="en-US" sz="2900" b="1" dirty="0">
                <a:solidFill>
                  <a:schemeClr val="bg1"/>
                </a:solidFill>
              </a:rPr>
              <a:t>Software issues take a moderate 5 to 5.3 days, sitting in the middle — not too fast, not too slow.</a:t>
            </a:r>
          </a:p>
          <a:p>
            <a:r>
              <a:rPr lang="en-US" sz="2900" b="1" dirty="0">
                <a:solidFill>
                  <a:schemeClr val="bg1"/>
                </a:solidFill>
              </a:rPr>
              <a:t>System issues are close to Hardware at around 6.5 to 6.6 days, also taking significant time to fix.</a:t>
            </a:r>
          </a:p>
          <a:p>
            <a:pPr marL="0" indent="0">
              <a:buNone/>
            </a:pPr>
            <a:endParaRPr lang="en-US" sz="2600" b="1" dirty="0">
              <a:solidFill>
                <a:schemeClr val="bg1"/>
              </a:solidFill>
            </a:endParaRPr>
          </a:p>
          <a:p>
            <a:pPr marL="0" indent="0">
              <a:buNone/>
            </a:pPr>
            <a:br>
              <a:rPr lang="en-US" dirty="0"/>
            </a:br>
            <a:br>
              <a:rPr lang="en-US" dirty="0"/>
            </a:br>
            <a:br>
              <a:rPr lang="en-US" dirty="0"/>
            </a:br>
            <a:br>
              <a:rPr lang="en-US" dirty="0"/>
            </a:br>
            <a:br>
              <a:rPr lang="en-US" dirty="0"/>
            </a:br>
            <a:br>
              <a:rPr lang="en-US" dirty="0"/>
            </a:br>
            <a:br>
              <a:rPr lang="en-US" dirty="0"/>
            </a:br>
            <a:br>
              <a:rPr lang="en-US" dirty="0"/>
            </a:br>
            <a:endParaRPr lang="en-IN" dirty="0"/>
          </a:p>
        </p:txBody>
      </p:sp>
      <p:graphicFrame>
        <p:nvGraphicFramePr>
          <p:cNvPr id="5" name="Chart 4">
            <a:extLst>
              <a:ext uri="{FF2B5EF4-FFF2-40B4-BE49-F238E27FC236}">
                <a16:creationId xmlns:a16="http://schemas.microsoft.com/office/drawing/2014/main" id="{9BD5BC76-BA33-4834-8E55-F8D688DCA75C}"/>
              </a:ext>
            </a:extLst>
          </p:cNvPr>
          <p:cNvGraphicFramePr>
            <a:graphicFrameLocks/>
          </p:cNvGraphicFramePr>
          <p:nvPr>
            <p:extLst>
              <p:ext uri="{D42A27DB-BD31-4B8C-83A1-F6EECF244321}">
                <p14:modId xmlns:p14="http://schemas.microsoft.com/office/powerpoint/2010/main" val="809697103"/>
              </p:ext>
            </p:extLst>
          </p:nvPr>
        </p:nvGraphicFramePr>
        <p:xfrm>
          <a:off x="4411133" y="1422402"/>
          <a:ext cx="6223000" cy="2997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92867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B151C-2C63-A01C-55BA-43333F243875}"/>
              </a:ext>
            </a:extLst>
          </p:cNvPr>
          <p:cNvSpPr>
            <a:spLocks noGrp="1"/>
          </p:cNvSpPr>
          <p:nvPr>
            <p:ph type="title"/>
          </p:nvPr>
        </p:nvSpPr>
        <p:spPr>
          <a:xfrm>
            <a:off x="1718733" y="380999"/>
            <a:ext cx="9057746" cy="1507067"/>
          </a:xfrm>
        </p:spPr>
        <p:txBody>
          <a:bodyPr>
            <a:normAutofit/>
          </a:bodyPr>
          <a:lstStyle/>
          <a:p>
            <a:pPr algn="ctr"/>
            <a:r>
              <a:rPr lang="en-IN" sz="2800" b="1" dirty="0">
                <a:solidFill>
                  <a:schemeClr val="bg1"/>
                </a:solidFill>
                <a:latin typeface="Arial Rounded MT Bold" panose="020F0704030504030204" pitchFamily="34" charset="0"/>
              </a:rPr>
              <a:t>Age Group by Satisfaction Rate</a:t>
            </a:r>
            <a:br>
              <a:rPr lang="en-US" sz="2800" dirty="0"/>
            </a:br>
            <a:br>
              <a:rPr lang="en-IN" sz="2800" dirty="0">
                <a:solidFill>
                  <a:schemeClr val="bg1"/>
                </a:solidFill>
                <a:latin typeface="Arial Rounded MT Bold" panose="020F0704030504030204" pitchFamily="34" charset="0"/>
              </a:rPr>
            </a:br>
            <a:endParaRPr lang="en-IN" sz="2800" dirty="0">
              <a:solidFill>
                <a:schemeClr val="bg1"/>
              </a:solidFill>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697F878B-29D7-C78C-CF67-03330A4940C6}"/>
              </a:ext>
            </a:extLst>
          </p:cNvPr>
          <p:cNvSpPr>
            <a:spLocks noGrp="1"/>
          </p:cNvSpPr>
          <p:nvPr>
            <p:ph idx="1"/>
          </p:nvPr>
        </p:nvSpPr>
        <p:spPr>
          <a:xfrm>
            <a:off x="384440" y="1295400"/>
            <a:ext cx="5127360" cy="3615267"/>
          </a:xfrm>
        </p:spPr>
        <p:txBody>
          <a:bodyPr>
            <a:normAutofit/>
          </a:bodyPr>
          <a:lstStyle/>
          <a:p>
            <a:r>
              <a:rPr lang="en-US" sz="1600" b="1" dirty="0">
                <a:solidFill>
                  <a:schemeClr val="bg1"/>
                </a:solidFill>
              </a:rPr>
              <a:t>Senior (41-50) age group is the most satisfied with a score of 4.22 — older users seem happiest with the support they receive.</a:t>
            </a:r>
          </a:p>
          <a:p>
            <a:r>
              <a:rPr lang="en-US" sz="1600" b="1" dirty="0">
                <a:solidFill>
                  <a:schemeClr val="bg1"/>
                </a:solidFill>
              </a:rPr>
              <a:t>Young (20-30) comes in second at 4.14 — still quite satisfied, just slightly behind seniors.</a:t>
            </a:r>
          </a:p>
          <a:p>
            <a:r>
              <a:rPr lang="en-US" sz="1600" b="1" dirty="0">
                <a:solidFill>
                  <a:schemeClr val="bg1"/>
                </a:solidFill>
              </a:rPr>
              <a:t>Mid (31-40) is the least satisfied at 4.03 — though still a decent score, this group feels the support could be better.</a:t>
            </a:r>
          </a:p>
        </p:txBody>
      </p:sp>
      <p:graphicFrame>
        <p:nvGraphicFramePr>
          <p:cNvPr id="4" name="Chart 3">
            <a:extLst>
              <a:ext uri="{FF2B5EF4-FFF2-40B4-BE49-F238E27FC236}">
                <a16:creationId xmlns:a16="http://schemas.microsoft.com/office/drawing/2014/main" id="{520AD30F-8BB6-43A0-B917-80CA73DEA944}"/>
              </a:ext>
            </a:extLst>
          </p:cNvPr>
          <p:cNvGraphicFramePr>
            <a:graphicFrameLocks/>
          </p:cNvGraphicFramePr>
          <p:nvPr>
            <p:extLst>
              <p:ext uri="{D42A27DB-BD31-4B8C-83A1-F6EECF244321}">
                <p14:modId xmlns:p14="http://schemas.microsoft.com/office/powerpoint/2010/main" val="466317847"/>
              </p:ext>
            </p:extLst>
          </p:nvPr>
        </p:nvGraphicFramePr>
        <p:xfrm>
          <a:off x="5410200" y="1769533"/>
          <a:ext cx="5240867" cy="268393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14059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1CED1-F7B2-16B3-9236-DA3C34F21872}"/>
              </a:ext>
            </a:extLst>
          </p:cNvPr>
          <p:cNvSpPr>
            <a:spLocks noGrp="1"/>
          </p:cNvSpPr>
          <p:nvPr>
            <p:ph type="title"/>
          </p:nvPr>
        </p:nvSpPr>
        <p:spPr>
          <a:xfrm>
            <a:off x="1464733" y="448733"/>
            <a:ext cx="8981545" cy="1621366"/>
          </a:xfrm>
        </p:spPr>
        <p:txBody>
          <a:bodyPr>
            <a:normAutofit/>
          </a:bodyPr>
          <a:lstStyle/>
          <a:p>
            <a:r>
              <a:rPr lang="en-US" sz="2800" dirty="0">
                <a:solidFill>
                  <a:schemeClr val="bg1"/>
                </a:solidFill>
                <a:latin typeface="Arial Rounded MT Bold" panose="020F0704030504030204" pitchFamily="34" charset="0"/>
              </a:rPr>
              <a:t>TICKETS BASED ON SATISFACTION RATE</a:t>
            </a:r>
            <a:br>
              <a:rPr lang="en-US" sz="2800" dirty="0">
                <a:solidFill>
                  <a:schemeClr val="bg1"/>
                </a:solidFill>
                <a:latin typeface="Arial Rounded MT Bold" panose="020F0704030504030204" pitchFamily="34" charset="0"/>
              </a:rPr>
            </a:br>
            <a:endParaRPr lang="en-IN" sz="2800" dirty="0">
              <a:solidFill>
                <a:schemeClr val="bg1"/>
              </a:solidFill>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C15CE371-833E-6C03-10E1-BE7F527C5F81}"/>
              </a:ext>
            </a:extLst>
          </p:cNvPr>
          <p:cNvSpPr>
            <a:spLocks noGrp="1"/>
          </p:cNvSpPr>
          <p:nvPr>
            <p:ph idx="1"/>
          </p:nvPr>
        </p:nvSpPr>
        <p:spPr>
          <a:xfrm>
            <a:off x="387879" y="1621366"/>
            <a:ext cx="5631921" cy="3615267"/>
          </a:xfrm>
        </p:spPr>
        <p:txBody>
          <a:bodyPr/>
          <a:lstStyle/>
          <a:p>
            <a:r>
              <a:rPr lang="en-US" b="1" dirty="0">
                <a:solidFill>
                  <a:schemeClr val="bg1"/>
                </a:solidFill>
              </a:rPr>
              <a:t>Satisfaction rating 5 has the highest number of tickets at around 50,000 indicating that the majority of customers are highly satisfied with the IT support service.</a:t>
            </a:r>
          </a:p>
          <a:p>
            <a:r>
              <a:rPr lang="en-US" b="1" dirty="0">
                <a:solidFill>
                  <a:schemeClr val="bg1"/>
                </a:solidFill>
              </a:rPr>
              <a:t>Ratings 1 and 2 have very low counts showing that poor service experiences are rare and the overall quality of support is consistently high.</a:t>
            </a:r>
          </a:p>
          <a:p>
            <a:endParaRPr lang="en-IN" dirty="0"/>
          </a:p>
        </p:txBody>
      </p:sp>
      <p:graphicFrame>
        <p:nvGraphicFramePr>
          <p:cNvPr id="4" name="Chart 3">
            <a:extLst>
              <a:ext uri="{FF2B5EF4-FFF2-40B4-BE49-F238E27FC236}">
                <a16:creationId xmlns:a16="http://schemas.microsoft.com/office/drawing/2014/main" id="{08BD2251-5108-4FFB-B6DC-29058C9DF90C}"/>
              </a:ext>
            </a:extLst>
          </p:cNvPr>
          <p:cNvGraphicFramePr>
            <a:graphicFrameLocks/>
          </p:cNvGraphicFramePr>
          <p:nvPr>
            <p:extLst>
              <p:ext uri="{D42A27DB-BD31-4B8C-83A1-F6EECF244321}">
                <p14:modId xmlns:p14="http://schemas.microsoft.com/office/powerpoint/2010/main" val="2355321569"/>
              </p:ext>
            </p:extLst>
          </p:nvPr>
        </p:nvGraphicFramePr>
        <p:xfrm>
          <a:off x="6172202" y="1750483"/>
          <a:ext cx="3683000" cy="29845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61857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91516-E1F6-FE4D-D614-CBDB82C1363C}"/>
              </a:ext>
            </a:extLst>
          </p:cNvPr>
          <p:cNvSpPr>
            <a:spLocks noGrp="1"/>
          </p:cNvSpPr>
          <p:nvPr>
            <p:ph type="title"/>
          </p:nvPr>
        </p:nvSpPr>
        <p:spPr>
          <a:xfrm>
            <a:off x="3283479" y="245532"/>
            <a:ext cx="4649788" cy="1507067"/>
          </a:xfrm>
        </p:spPr>
        <p:txBody>
          <a:bodyPr>
            <a:normAutofit/>
          </a:bodyPr>
          <a:lstStyle/>
          <a:p>
            <a:pPr algn="ctr"/>
            <a:r>
              <a:rPr lang="en-IN" sz="2800" b="1" dirty="0">
                <a:solidFill>
                  <a:schemeClr val="bg1"/>
                </a:solidFill>
                <a:latin typeface="Arial Rounded MT Bold" panose="020F0704030504030204" pitchFamily="34" charset="0"/>
              </a:rPr>
              <a:t>TICKETS BY CATEGORY</a:t>
            </a:r>
            <a:br>
              <a:rPr lang="en-IN" dirty="0"/>
            </a:br>
            <a:endParaRPr lang="en-IN" dirty="0"/>
          </a:p>
        </p:txBody>
      </p:sp>
      <p:sp>
        <p:nvSpPr>
          <p:cNvPr id="3" name="Content Placeholder 2">
            <a:extLst>
              <a:ext uri="{FF2B5EF4-FFF2-40B4-BE49-F238E27FC236}">
                <a16:creationId xmlns:a16="http://schemas.microsoft.com/office/drawing/2014/main" id="{57EA4535-5124-2EC5-7215-A031D15468ED}"/>
              </a:ext>
            </a:extLst>
          </p:cNvPr>
          <p:cNvSpPr>
            <a:spLocks noGrp="1"/>
          </p:cNvSpPr>
          <p:nvPr>
            <p:ph idx="1"/>
          </p:nvPr>
        </p:nvSpPr>
        <p:spPr>
          <a:xfrm>
            <a:off x="220133" y="607483"/>
            <a:ext cx="5250920" cy="4944534"/>
          </a:xfrm>
        </p:spPr>
        <p:txBody>
          <a:bodyPr/>
          <a:lstStyle/>
          <a:p>
            <a:r>
              <a:rPr lang="en-US" b="1" dirty="0">
                <a:solidFill>
                  <a:schemeClr val="bg1"/>
                </a:solidFill>
              </a:rPr>
              <a:t>System has the largest share with 39,002 tickets followed by Login Access with 29,193 indicating that system and access related issues are the most frequent problems faced by employees.</a:t>
            </a:r>
          </a:p>
          <a:p>
            <a:r>
              <a:rPr lang="en-US" b="1" dirty="0">
                <a:solidFill>
                  <a:schemeClr val="bg1"/>
                </a:solidFill>
              </a:rPr>
              <a:t>Software has 19,570 tickets while Hardware has the lowest at 9,733 suggesting that physical equipment issues are minimal but software and system reliability needs immediate attention and investment.</a:t>
            </a:r>
            <a:endParaRPr lang="en-IN" b="1" dirty="0">
              <a:solidFill>
                <a:schemeClr val="bg1"/>
              </a:solidFill>
            </a:endParaRPr>
          </a:p>
        </p:txBody>
      </p:sp>
      <p:graphicFrame>
        <p:nvGraphicFramePr>
          <p:cNvPr id="4" name="Chart 3">
            <a:extLst>
              <a:ext uri="{FF2B5EF4-FFF2-40B4-BE49-F238E27FC236}">
                <a16:creationId xmlns:a16="http://schemas.microsoft.com/office/drawing/2014/main" id="{7F403A71-2D2E-41A3-AA70-099872737D3F}"/>
              </a:ext>
            </a:extLst>
          </p:cNvPr>
          <p:cNvGraphicFramePr>
            <a:graphicFrameLocks/>
          </p:cNvGraphicFramePr>
          <p:nvPr>
            <p:extLst>
              <p:ext uri="{D42A27DB-BD31-4B8C-83A1-F6EECF244321}">
                <p14:modId xmlns:p14="http://schemas.microsoft.com/office/powerpoint/2010/main" val="2781110324"/>
              </p:ext>
            </p:extLst>
          </p:nvPr>
        </p:nvGraphicFramePr>
        <p:xfrm>
          <a:off x="5471053" y="1515532"/>
          <a:ext cx="5045021" cy="288713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58076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18437-3E7C-F1FD-3BF2-03A7B3C8574F}"/>
              </a:ext>
            </a:extLst>
          </p:cNvPr>
          <p:cNvSpPr>
            <a:spLocks noGrp="1"/>
          </p:cNvSpPr>
          <p:nvPr>
            <p:ph type="title"/>
          </p:nvPr>
        </p:nvSpPr>
        <p:spPr>
          <a:xfrm>
            <a:off x="3164945" y="152399"/>
            <a:ext cx="4480455" cy="1507067"/>
          </a:xfrm>
        </p:spPr>
        <p:txBody>
          <a:bodyPr>
            <a:normAutofit/>
          </a:bodyPr>
          <a:lstStyle/>
          <a:p>
            <a:r>
              <a:rPr lang="en-IN" sz="2800" b="1" dirty="0">
                <a:solidFill>
                  <a:schemeClr val="bg1"/>
                </a:solidFill>
              </a:rPr>
              <a:t>TICKETS BY SEVERITY</a:t>
            </a:r>
          </a:p>
        </p:txBody>
      </p:sp>
      <p:sp>
        <p:nvSpPr>
          <p:cNvPr id="3" name="Content Placeholder 2">
            <a:extLst>
              <a:ext uri="{FF2B5EF4-FFF2-40B4-BE49-F238E27FC236}">
                <a16:creationId xmlns:a16="http://schemas.microsoft.com/office/drawing/2014/main" id="{838DF886-7E24-037C-311E-0586F80CA49B}"/>
              </a:ext>
            </a:extLst>
          </p:cNvPr>
          <p:cNvSpPr>
            <a:spLocks noGrp="1"/>
          </p:cNvSpPr>
          <p:nvPr>
            <p:ph idx="1"/>
          </p:nvPr>
        </p:nvSpPr>
        <p:spPr>
          <a:xfrm>
            <a:off x="396345" y="1312333"/>
            <a:ext cx="4658255" cy="3615267"/>
          </a:xfrm>
        </p:spPr>
        <p:txBody>
          <a:bodyPr/>
          <a:lstStyle/>
          <a:p>
            <a:r>
              <a:rPr lang="en-US" b="1" dirty="0">
                <a:solidFill>
                  <a:schemeClr val="bg1"/>
                </a:solidFill>
              </a:rPr>
              <a:t>Normal severity has the highest count indicating most IT issues are moderate and do not require urgent intervention.</a:t>
            </a:r>
          </a:p>
          <a:p>
            <a:r>
              <a:rPr lang="en-US" b="1" dirty="0">
                <a:solidFill>
                  <a:schemeClr val="bg1"/>
                </a:solidFill>
              </a:rPr>
              <a:t>Urgent and Major tickets are the least in number showing critical issues are rare but must be prioritized immediately.</a:t>
            </a:r>
            <a:endParaRPr lang="en-IN" b="1" dirty="0">
              <a:solidFill>
                <a:schemeClr val="bg1"/>
              </a:solidFill>
            </a:endParaRPr>
          </a:p>
        </p:txBody>
      </p:sp>
      <p:graphicFrame>
        <p:nvGraphicFramePr>
          <p:cNvPr id="4" name="Chart 3">
            <a:extLst>
              <a:ext uri="{FF2B5EF4-FFF2-40B4-BE49-F238E27FC236}">
                <a16:creationId xmlns:a16="http://schemas.microsoft.com/office/drawing/2014/main" id="{AAB9C158-8A2A-4A3C-87AE-5C355F06B221}"/>
              </a:ext>
            </a:extLst>
          </p:cNvPr>
          <p:cNvGraphicFramePr>
            <a:graphicFrameLocks/>
          </p:cNvGraphicFramePr>
          <p:nvPr>
            <p:extLst>
              <p:ext uri="{D42A27DB-BD31-4B8C-83A1-F6EECF244321}">
                <p14:modId xmlns:p14="http://schemas.microsoft.com/office/powerpoint/2010/main" val="1521940118"/>
              </p:ext>
            </p:extLst>
          </p:nvPr>
        </p:nvGraphicFramePr>
        <p:xfrm>
          <a:off x="5139267" y="1507066"/>
          <a:ext cx="5143500" cy="3225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81436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E49FC-8040-A671-4F19-B8C04EB49F7E}"/>
              </a:ext>
            </a:extLst>
          </p:cNvPr>
          <p:cNvSpPr>
            <a:spLocks noGrp="1"/>
          </p:cNvSpPr>
          <p:nvPr>
            <p:ph type="title"/>
          </p:nvPr>
        </p:nvSpPr>
        <p:spPr>
          <a:xfrm>
            <a:off x="1473994" y="0"/>
            <a:ext cx="9244011" cy="1507067"/>
          </a:xfrm>
        </p:spPr>
        <p:txBody>
          <a:bodyPr>
            <a:normAutofit/>
          </a:bodyPr>
          <a:lstStyle/>
          <a:p>
            <a:pPr algn="ctr"/>
            <a:r>
              <a:rPr lang="en-IN" sz="3200" b="1" dirty="0">
                <a:solidFill>
                  <a:schemeClr val="bg1"/>
                </a:solidFill>
              </a:rPr>
              <a:t>SATISFACTION RATE BY PRIORITY</a:t>
            </a:r>
          </a:p>
        </p:txBody>
      </p:sp>
      <p:sp>
        <p:nvSpPr>
          <p:cNvPr id="3" name="Content Placeholder 2">
            <a:extLst>
              <a:ext uri="{FF2B5EF4-FFF2-40B4-BE49-F238E27FC236}">
                <a16:creationId xmlns:a16="http://schemas.microsoft.com/office/drawing/2014/main" id="{B811A672-EA41-0D5E-E59A-FEF42CD0C0B9}"/>
              </a:ext>
            </a:extLst>
          </p:cNvPr>
          <p:cNvSpPr>
            <a:spLocks noGrp="1"/>
          </p:cNvSpPr>
          <p:nvPr>
            <p:ph idx="1"/>
          </p:nvPr>
        </p:nvSpPr>
        <p:spPr>
          <a:xfrm>
            <a:off x="597957" y="1210733"/>
            <a:ext cx="4353455" cy="3615267"/>
          </a:xfrm>
        </p:spPr>
        <p:txBody>
          <a:bodyPr/>
          <a:lstStyle/>
          <a:p>
            <a:r>
              <a:rPr lang="en-US" b="1" dirty="0">
                <a:solidFill>
                  <a:schemeClr val="bg1"/>
                </a:solidFill>
              </a:rPr>
              <a:t>Satisfaction rate is fairly consistent across all priority levels ranging between 4.07 and 4.14 showing the team handles all priorities effectively.</a:t>
            </a:r>
          </a:p>
          <a:p>
            <a:r>
              <a:rPr lang="en-US" b="1" dirty="0">
                <a:solidFill>
                  <a:schemeClr val="bg1"/>
                </a:solidFill>
              </a:rPr>
              <a:t>Unassigned tickets have the lowest satisfaction at 4.07 indicating that tickets without clear priority assignment are not handled as efficiently.</a:t>
            </a:r>
            <a:endParaRPr lang="en-IN" b="1" dirty="0">
              <a:solidFill>
                <a:schemeClr val="bg1"/>
              </a:solidFill>
            </a:endParaRPr>
          </a:p>
        </p:txBody>
      </p:sp>
      <p:graphicFrame>
        <p:nvGraphicFramePr>
          <p:cNvPr id="4" name="Chart 3">
            <a:extLst>
              <a:ext uri="{FF2B5EF4-FFF2-40B4-BE49-F238E27FC236}">
                <a16:creationId xmlns:a16="http://schemas.microsoft.com/office/drawing/2014/main" id="{380420E8-8A8D-4E8A-8832-DF36C22DF902}"/>
              </a:ext>
            </a:extLst>
          </p:cNvPr>
          <p:cNvGraphicFramePr>
            <a:graphicFrameLocks/>
          </p:cNvGraphicFramePr>
          <p:nvPr>
            <p:extLst>
              <p:ext uri="{D42A27DB-BD31-4B8C-83A1-F6EECF244321}">
                <p14:modId xmlns:p14="http://schemas.microsoft.com/office/powerpoint/2010/main" val="1421369648"/>
              </p:ext>
            </p:extLst>
          </p:nvPr>
        </p:nvGraphicFramePr>
        <p:xfrm>
          <a:off x="4849284" y="1411816"/>
          <a:ext cx="5666316" cy="32131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202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7C7D2-928E-4D65-2D30-BB6538791F52}"/>
              </a:ext>
            </a:extLst>
          </p:cNvPr>
          <p:cNvSpPr>
            <a:spLocks noGrp="1"/>
          </p:cNvSpPr>
          <p:nvPr>
            <p:ph type="title"/>
          </p:nvPr>
        </p:nvSpPr>
        <p:spPr>
          <a:xfrm>
            <a:off x="2209802" y="152399"/>
            <a:ext cx="7975600" cy="1507067"/>
          </a:xfrm>
        </p:spPr>
        <p:txBody>
          <a:bodyPr>
            <a:noAutofit/>
          </a:bodyPr>
          <a:lstStyle/>
          <a:p>
            <a:pPr algn="ctr"/>
            <a:r>
              <a:rPr lang="en-US" sz="2800" b="1" dirty="0">
                <a:solidFill>
                  <a:schemeClr val="bg1"/>
                </a:solidFill>
                <a:latin typeface="Arial Rounded MT Bold" panose="020F0704030504030204" pitchFamily="34" charset="0"/>
              </a:rPr>
              <a:t>SEVERITY VS AVERAGE RESOLUTION TIME</a:t>
            </a:r>
            <a:br>
              <a:rPr lang="en-US" sz="2800" b="1" dirty="0">
                <a:solidFill>
                  <a:schemeClr val="bg1"/>
                </a:solidFill>
                <a:latin typeface="Arial Rounded MT Bold" panose="020F0704030504030204" pitchFamily="34" charset="0"/>
              </a:rPr>
            </a:br>
            <a:endParaRPr lang="en-IN" sz="2800" b="1" dirty="0">
              <a:solidFill>
                <a:schemeClr val="bg1"/>
              </a:solidFill>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979B660E-8F5D-6714-2547-06EFB1899014}"/>
              </a:ext>
            </a:extLst>
          </p:cNvPr>
          <p:cNvSpPr>
            <a:spLocks noGrp="1"/>
          </p:cNvSpPr>
          <p:nvPr>
            <p:ph idx="1"/>
          </p:nvPr>
        </p:nvSpPr>
        <p:spPr>
          <a:xfrm>
            <a:off x="675745" y="1430866"/>
            <a:ext cx="4328055" cy="3615267"/>
          </a:xfrm>
        </p:spPr>
        <p:txBody>
          <a:bodyPr>
            <a:normAutofit lnSpcReduction="10000"/>
          </a:bodyPr>
          <a:lstStyle/>
          <a:p>
            <a:r>
              <a:rPr lang="en-US" b="1" dirty="0">
                <a:solidFill>
                  <a:schemeClr val="bg1"/>
                </a:solidFill>
              </a:rPr>
              <a:t>Urgent severity tickets take the longest to resolve indicating that critical issues require more time and specialized skills to fix.</a:t>
            </a:r>
          </a:p>
          <a:p>
            <a:r>
              <a:rPr lang="en-US" b="1" dirty="0">
                <a:solidFill>
                  <a:schemeClr val="bg1"/>
                </a:solidFill>
              </a:rPr>
              <a:t>Normal and Minor severity tickets are resolved faster showing that standard procedures work well for routine issues but need improvement for complex ones.</a:t>
            </a:r>
            <a:endParaRPr lang="en-IN" b="1" dirty="0">
              <a:solidFill>
                <a:schemeClr val="bg1"/>
              </a:solidFill>
            </a:endParaRPr>
          </a:p>
        </p:txBody>
      </p:sp>
      <p:graphicFrame>
        <p:nvGraphicFramePr>
          <p:cNvPr id="4" name="Chart 3">
            <a:extLst>
              <a:ext uri="{FF2B5EF4-FFF2-40B4-BE49-F238E27FC236}">
                <a16:creationId xmlns:a16="http://schemas.microsoft.com/office/drawing/2014/main" id="{5E99C6AB-BBFB-407F-93AA-B9E4528A1586}"/>
              </a:ext>
            </a:extLst>
          </p:cNvPr>
          <p:cNvGraphicFramePr>
            <a:graphicFrameLocks/>
          </p:cNvGraphicFramePr>
          <p:nvPr>
            <p:extLst>
              <p:ext uri="{D42A27DB-BD31-4B8C-83A1-F6EECF244321}">
                <p14:modId xmlns:p14="http://schemas.microsoft.com/office/powerpoint/2010/main" val="3547724887"/>
              </p:ext>
            </p:extLst>
          </p:nvPr>
        </p:nvGraphicFramePr>
        <p:xfrm>
          <a:off x="5000096" y="1534584"/>
          <a:ext cx="5524500" cy="32131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2976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363E7-466A-072B-1779-E749AABC4114}"/>
              </a:ext>
            </a:extLst>
          </p:cNvPr>
          <p:cNvSpPr>
            <a:spLocks noGrp="1"/>
          </p:cNvSpPr>
          <p:nvPr>
            <p:ph type="title"/>
          </p:nvPr>
        </p:nvSpPr>
        <p:spPr>
          <a:xfrm>
            <a:off x="3317345" y="-243837"/>
            <a:ext cx="4455055" cy="1507067"/>
          </a:xfrm>
        </p:spPr>
        <p:txBody>
          <a:bodyPr>
            <a:normAutofit/>
          </a:bodyPr>
          <a:lstStyle/>
          <a:p>
            <a:pPr algn="ctr"/>
            <a:r>
              <a:rPr lang="en-IN" sz="3200" b="1" u="sng" dirty="0">
                <a:solidFill>
                  <a:schemeClr val="bg1"/>
                </a:solidFill>
                <a:latin typeface="Arial Rounded MT Bold" panose="020F0704030504030204" pitchFamily="34" charset="0"/>
              </a:rPr>
              <a:t>dashboard</a:t>
            </a:r>
          </a:p>
        </p:txBody>
      </p:sp>
      <p:pic>
        <p:nvPicPr>
          <p:cNvPr id="7" name="Content Placeholder 6">
            <a:extLst>
              <a:ext uri="{FF2B5EF4-FFF2-40B4-BE49-F238E27FC236}">
                <a16:creationId xmlns:a16="http://schemas.microsoft.com/office/drawing/2014/main" id="{F07D7320-287E-A70D-88FA-5C32AAF7F83A}"/>
              </a:ext>
            </a:extLst>
          </p:cNvPr>
          <p:cNvPicPr>
            <a:picLocks noGrp="1" noChangeAspect="1"/>
          </p:cNvPicPr>
          <p:nvPr>
            <p:ph idx="1"/>
          </p:nvPr>
        </p:nvPicPr>
        <p:blipFill>
          <a:blip r:embed="rId2"/>
          <a:stretch>
            <a:fillRect/>
          </a:stretch>
        </p:blipFill>
        <p:spPr>
          <a:xfrm>
            <a:off x="684213" y="787401"/>
            <a:ext cx="9433454" cy="4411132"/>
          </a:xfrm>
          <a:prstGeom prst="rect">
            <a:avLst/>
          </a:prstGeom>
        </p:spPr>
      </p:pic>
    </p:spTree>
    <p:extLst>
      <p:ext uri="{BB962C8B-B14F-4D97-AF65-F5344CB8AC3E}">
        <p14:creationId xmlns:p14="http://schemas.microsoft.com/office/powerpoint/2010/main" val="2941556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6E47-DA66-58B5-CB60-260E6BF54876}"/>
              </a:ext>
            </a:extLst>
          </p:cNvPr>
          <p:cNvSpPr>
            <a:spLocks noGrp="1"/>
          </p:cNvSpPr>
          <p:nvPr>
            <p:ph type="title"/>
          </p:nvPr>
        </p:nvSpPr>
        <p:spPr>
          <a:xfrm>
            <a:off x="3793066" y="-397934"/>
            <a:ext cx="3845455" cy="1507067"/>
          </a:xfrm>
        </p:spPr>
        <p:txBody>
          <a:bodyPr>
            <a:normAutofit/>
          </a:bodyPr>
          <a:lstStyle/>
          <a:p>
            <a:pPr algn="ctr"/>
            <a:r>
              <a:rPr lang="en-IN" sz="2800" b="1" u="sng" dirty="0">
                <a:solidFill>
                  <a:schemeClr val="bg1"/>
                </a:solidFill>
                <a:latin typeface="Arial Rounded MT Bold" panose="020F0704030504030204" pitchFamily="34" charset="0"/>
              </a:rPr>
              <a:t>conclusion</a:t>
            </a:r>
          </a:p>
        </p:txBody>
      </p:sp>
      <p:sp>
        <p:nvSpPr>
          <p:cNvPr id="3" name="Content Placeholder 2">
            <a:extLst>
              <a:ext uri="{FF2B5EF4-FFF2-40B4-BE49-F238E27FC236}">
                <a16:creationId xmlns:a16="http://schemas.microsoft.com/office/drawing/2014/main" id="{E68F4EAA-443D-64D6-A60C-F6F69C34F792}"/>
              </a:ext>
            </a:extLst>
          </p:cNvPr>
          <p:cNvSpPr>
            <a:spLocks noGrp="1"/>
          </p:cNvSpPr>
          <p:nvPr>
            <p:ph idx="1"/>
          </p:nvPr>
        </p:nvSpPr>
        <p:spPr>
          <a:xfrm>
            <a:off x="1403878" y="762000"/>
            <a:ext cx="9145588" cy="4758267"/>
          </a:xfrm>
        </p:spPr>
        <p:txBody>
          <a:bodyPr>
            <a:normAutofit lnSpcReduction="10000"/>
          </a:bodyPr>
          <a:lstStyle/>
          <a:p>
            <a:r>
              <a:rPr lang="en-US" sz="1600" b="1" dirty="0">
                <a:solidFill>
                  <a:schemeClr val="bg1"/>
                </a:solidFill>
              </a:rPr>
              <a:t>The IT support team successfully handled nearly 97,498 tickets with a solid satisfaction score of 4.1 out of 5, showing overall good performance. </a:t>
            </a:r>
          </a:p>
          <a:p>
            <a:r>
              <a:rPr lang="en-US" sz="1600" b="1" dirty="0">
                <a:solidFill>
                  <a:schemeClr val="bg1"/>
                </a:solidFill>
              </a:rPr>
              <a:t> Ticket volume has been steadily increasing year over year, with a sharp jump in 2019–2020, indicating growing demand on the support team.</a:t>
            </a:r>
          </a:p>
          <a:p>
            <a:r>
              <a:rPr lang="en-US" sz="1600" b="1" dirty="0">
                <a:solidFill>
                  <a:schemeClr val="bg1"/>
                </a:solidFill>
              </a:rPr>
              <a:t> Hardware and System issues take the longest to resolve at 6–8 days while Login Access is fixed in under a day, showing a big gap based on issue complexity.</a:t>
            </a:r>
          </a:p>
          <a:p>
            <a:r>
              <a:rPr lang="en-US" sz="1600" b="1" dirty="0">
                <a:solidFill>
                  <a:schemeClr val="bg1"/>
                </a:solidFill>
              </a:rPr>
              <a:t> Resolution times are consistent across all four quarters, meaning performance is stable but there's also no visible improvement happening over time.</a:t>
            </a:r>
          </a:p>
          <a:p>
            <a:r>
              <a:rPr lang="en-US" sz="1600" b="1" dirty="0">
                <a:solidFill>
                  <a:schemeClr val="bg1"/>
                </a:solidFill>
              </a:rPr>
              <a:t> Senior employees (41–50) are the happiest with support at 4.22, while the Mid age group (31–40) is the least satisfied at 4.03 and needs more focused attention.</a:t>
            </a:r>
          </a:p>
          <a:p>
            <a:r>
              <a:rPr lang="en-US" sz="1600" b="1" dirty="0">
                <a:solidFill>
                  <a:schemeClr val="bg1"/>
                </a:solidFill>
              </a:rPr>
              <a:t> The majority of tickets fall under Normal to Major severity, with very few urgent ones, suggesting the workload is manageable but complex issues still exist.</a:t>
            </a:r>
          </a:p>
          <a:p>
            <a:r>
              <a:rPr lang="en-US" sz="1600" b="1" dirty="0">
                <a:solidFill>
                  <a:schemeClr val="bg1"/>
                </a:solidFill>
              </a:rPr>
              <a:t> As priority level increases, satisfaction tends to drop, meaning the team struggles more with high-pressure and urgent tickets compared to routine ones.</a:t>
            </a:r>
          </a:p>
          <a:p>
            <a:r>
              <a:rPr lang="en-US" sz="1600" b="1" dirty="0">
                <a:solidFill>
                  <a:schemeClr val="bg1"/>
                </a:solidFill>
              </a:rPr>
              <a:t> Over all the team is performing well, but scaling resources, reducing hardware resolution time, and improving high-priority ticket handling will be critical for future growth..</a:t>
            </a:r>
            <a:endParaRPr lang="en-IN" sz="1600" b="1" dirty="0">
              <a:solidFill>
                <a:schemeClr val="bg1"/>
              </a:solidFill>
            </a:endParaRPr>
          </a:p>
        </p:txBody>
      </p:sp>
    </p:spTree>
    <p:extLst>
      <p:ext uri="{BB962C8B-B14F-4D97-AF65-F5344CB8AC3E}">
        <p14:creationId xmlns:p14="http://schemas.microsoft.com/office/powerpoint/2010/main" val="186978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740D5-CE2D-F83F-B3B8-09E292A57D34}"/>
              </a:ext>
            </a:extLst>
          </p:cNvPr>
          <p:cNvSpPr>
            <a:spLocks noGrp="1"/>
          </p:cNvSpPr>
          <p:nvPr>
            <p:ph type="title"/>
          </p:nvPr>
        </p:nvSpPr>
        <p:spPr>
          <a:xfrm>
            <a:off x="3681413" y="-177802"/>
            <a:ext cx="4150254" cy="1507067"/>
          </a:xfrm>
        </p:spPr>
        <p:txBody>
          <a:bodyPr>
            <a:normAutofit/>
          </a:bodyPr>
          <a:lstStyle/>
          <a:p>
            <a:pPr algn="ctr"/>
            <a:r>
              <a:rPr lang="en-IN" sz="2800" b="1" u="sng" dirty="0">
                <a:solidFill>
                  <a:schemeClr val="bg1"/>
                </a:solidFill>
                <a:latin typeface="Arial Rounded MT Bold" panose="020F0704030504030204" pitchFamily="34" charset="0"/>
              </a:rPr>
              <a:t>recommendations</a:t>
            </a:r>
          </a:p>
        </p:txBody>
      </p:sp>
      <p:sp>
        <p:nvSpPr>
          <p:cNvPr id="3" name="Content Placeholder 2">
            <a:extLst>
              <a:ext uri="{FF2B5EF4-FFF2-40B4-BE49-F238E27FC236}">
                <a16:creationId xmlns:a16="http://schemas.microsoft.com/office/drawing/2014/main" id="{D786219C-1CF1-BC4C-3676-5DBB36DD2E66}"/>
              </a:ext>
            </a:extLst>
          </p:cNvPr>
          <p:cNvSpPr>
            <a:spLocks noGrp="1"/>
          </p:cNvSpPr>
          <p:nvPr>
            <p:ph idx="1"/>
          </p:nvPr>
        </p:nvSpPr>
        <p:spPr>
          <a:xfrm>
            <a:off x="1751013" y="778934"/>
            <a:ext cx="8534400" cy="4809066"/>
          </a:xfrm>
        </p:spPr>
        <p:txBody>
          <a:bodyPr>
            <a:normAutofit/>
          </a:bodyPr>
          <a:lstStyle/>
          <a:p>
            <a:r>
              <a:rPr lang="en-US" sz="1600" b="1" dirty="0">
                <a:solidFill>
                  <a:schemeClr val="bg1"/>
                </a:solidFill>
              </a:rPr>
              <a:t>Since ticket volume is rising sharply, the team should consider hiring more support staff or automating routine requests to handle future load. </a:t>
            </a:r>
          </a:p>
          <a:p>
            <a:r>
              <a:rPr lang="en-US" sz="1600" b="1" dirty="0">
                <a:solidFill>
                  <a:schemeClr val="bg1"/>
                </a:solidFill>
              </a:rPr>
              <a:t>Hardware and System issues take 6–8 days to resolve, so dedicated specialists or faster escalation processes should be set up for these categories. </a:t>
            </a:r>
          </a:p>
          <a:p>
            <a:r>
              <a:rPr lang="en-US" sz="1600" b="1" dirty="0">
                <a:solidFill>
                  <a:schemeClr val="bg1"/>
                </a:solidFill>
              </a:rPr>
              <a:t>Login Access is already fast under a day, so that process can be used as a model and applied to improve other slower categories. </a:t>
            </a:r>
          </a:p>
          <a:p>
            <a:r>
              <a:rPr lang="en-US" sz="1600" b="1" dirty="0">
                <a:solidFill>
                  <a:schemeClr val="bg1"/>
                </a:solidFill>
              </a:rPr>
              <a:t>The Mid age group (31–40) has the lowest satisfaction, so their specific pain points should be studied and addressed through better communication or faster resolution.</a:t>
            </a:r>
          </a:p>
          <a:p>
            <a:r>
              <a:rPr lang="en-US" sz="1600" b="1" dirty="0">
                <a:solidFill>
                  <a:schemeClr val="bg1"/>
                </a:solidFill>
              </a:rPr>
              <a:t> Since high priority tickets have lower satisfaction, a separate fast-track team or process should be created specifically for urgent and critical issues.</a:t>
            </a:r>
          </a:p>
          <a:p>
            <a:r>
              <a:rPr lang="en-US" sz="1600" b="1" dirty="0">
                <a:solidFill>
                  <a:schemeClr val="bg1"/>
                </a:solidFill>
              </a:rPr>
              <a:t> Resolution time is stable but not improving across quarters, so the team needs to set clear improvement targets and track progress every quarter.</a:t>
            </a:r>
          </a:p>
          <a:p>
            <a:r>
              <a:rPr lang="en-US" sz="1600" b="1" dirty="0">
                <a:solidFill>
                  <a:schemeClr val="bg1"/>
                </a:solidFill>
              </a:rPr>
              <a:t> The Normal to Major severity tickets are the highest in volume, so more resources and training should be focused on handling these efficiently.</a:t>
            </a:r>
            <a:endParaRPr lang="en-IN" sz="1600" b="1" dirty="0">
              <a:solidFill>
                <a:schemeClr val="bg1"/>
              </a:solidFill>
            </a:endParaRPr>
          </a:p>
        </p:txBody>
      </p:sp>
    </p:spTree>
    <p:extLst>
      <p:ext uri="{BB962C8B-B14F-4D97-AF65-F5344CB8AC3E}">
        <p14:creationId xmlns:p14="http://schemas.microsoft.com/office/powerpoint/2010/main" val="3396941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359C7-404A-CA95-6862-84DFFEB59C2A}"/>
              </a:ext>
            </a:extLst>
          </p:cNvPr>
          <p:cNvSpPr>
            <a:spLocks noGrp="1"/>
          </p:cNvSpPr>
          <p:nvPr>
            <p:ph type="title"/>
          </p:nvPr>
        </p:nvSpPr>
        <p:spPr>
          <a:xfrm>
            <a:off x="1759479" y="1811865"/>
            <a:ext cx="8534400" cy="1507067"/>
          </a:xfrm>
        </p:spPr>
        <p:txBody>
          <a:bodyPr/>
          <a:lstStyle/>
          <a:p>
            <a:pPr algn="ctr"/>
            <a:r>
              <a:rPr lang="en-IN" b="1" dirty="0">
                <a:solidFill>
                  <a:schemeClr val="bg1"/>
                </a:solidFill>
                <a:latin typeface="Arial Rounded MT Bold" panose="020F0704030504030204" pitchFamily="34" charset="0"/>
              </a:rPr>
              <a:t>Thank you</a:t>
            </a:r>
          </a:p>
        </p:txBody>
      </p:sp>
      <p:sp>
        <p:nvSpPr>
          <p:cNvPr id="3" name="Content Placeholder 2">
            <a:extLst>
              <a:ext uri="{FF2B5EF4-FFF2-40B4-BE49-F238E27FC236}">
                <a16:creationId xmlns:a16="http://schemas.microsoft.com/office/drawing/2014/main" id="{FC6725DF-D188-13B9-6824-EB0D792D147F}"/>
              </a:ext>
            </a:extLst>
          </p:cNvPr>
          <p:cNvSpPr>
            <a:spLocks noGrp="1"/>
          </p:cNvSpPr>
          <p:nvPr>
            <p:ph idx="1"/>
          </p:nvPr>
        </p:nvSpPr>
        <p:spPr/>
        <p:txBody>
          <a:bodyPr/>
          <a:lstStyle/>
          <a:p>
            <a:endParaRPr lang="en-IN" u="sng" dirty="0"/>
          </a:p>
          <a:p>
            <a:endParaRPr lang="en-IN" u="sng" dirty="0"/>
          </a:p>
          <a:p>
            <a:pPr marL="0" indent="0">
              <a:buNone/>
            </a:pPr>
            <a:endParaRPr lang="en-IN" u="sng" dirty="0"/>
          </a:p>
        </p:txBody>
      </p:sp>
    </p:spTree>
    <p:extLst>
      <p:ext uri="{BB962C8B-B14F-4D97-AF65-F5344CB8AC3E}">
        <p14:creationId xmlns:p14="http://schemas.microsoft.com/office/powerpoint/2010/main" val="1409774120"/>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335</TotalTime>
  <Words>1121</Words>
  <Application>Microsoft Office PowerPoint</Application>
  <PresentationFormat>Widescreen</PresentationFormat>
  <Paragraphs>73</Paragraphs>
  <Slides>16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 Rounded MT Bold</vt:lpstr>
      <vt:lpstr>Calibri</vt:lpstr>
      <vt:lpstr>Century Gothic</vt:lpstr>
      <vt:lpstr>Rockwell</vt:lpstr>
      <vt:lpstr>Wingdings</vt:lpstr>
      <vt:lpstr>Wingdings 3</vt:lpstr>
      <vt:lpstr>Slice</vt:lpstr>
      <vt:lpstr>IT TICKET ANALYSIS            A  Data Analytics Project</vt:lpstr>
      <vt:lpstr>PROBLEM STATEMENT</vt:lpstr>
      <vt:lpstr>Data description</vt:lpstr>
      <vt:lpstr>workflow</vt:lpstr>
      <vt:lpstr>MONTHLY TICKET VOLUME TREND</vt:lpstr>
      <vt:lpstr>Average Resolution Time by Request Category (Quarter-wise) </vt:lpstr>
      <vt:lpstr>Age Group by Satisfaction Rate  </vt:lpstr>
      <vt:lpstr>TICKETS BASED ON SATISFACTION RATE </vt:lpstr>
      <vt:lpstr>TICKETS BY CATEGORY </vt:lpstr>
      <vt:lpstr>TICKETS BY SEVERITY</vt:lpstr>
      <vt:lpstr>SATISFACTION RATE BY PRIORITY</vt:lpstr>
      <vt:lpstr>SEVERITY VS AVERAGE RESOLUTION TIME </vt:lpstr>
      <vt:lpstr>dashboard</vt:lpstr>
      <vt:lpstr>conclusion</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Ashutosh Giri</dc:creator>
  <cp:lastModifiedBy>Ashutosh Giri</cp:lastModifiedBy>
  <cp:revision>1</cp:revision>
  <dcterms:created xsi:type="dcterms:W3CDTF">2026-05-17T11:36:19Z</dcterms:created>
  <dcterms:modified xsi:type="dcterms:W3CDTF">2026-06-17T14:53:42Z</dcterms:modified>
</cp:coreProperties>
</file>